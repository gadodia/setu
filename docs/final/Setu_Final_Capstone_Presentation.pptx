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0f361ed3e543c4" /><Relationship Type="http://schemas.openxmlformats.org/officeDocument/2006/relationships/extended-properties" Target="/docProps/app.xml" Id="R16886adbfbfe4312" /><Relationship Type="http://schemas.openxmlformats.org/officeDocument/2006/relationships/officeDocument" Target="/ppt/presentation.xml" Id="Rfeaa674e473b4672" /></Relationships>
</file>

<file path=ppt/presentation.xml><?xml version="1.0" encoding="utf-8"?>
<p:presentation xmlns:p="http://schemas.openxmlformats.org/presentationml/2006/main">
  <p:sldMasterIdLst>
    <p:sldMasterId xmlns:r="http://schemas.openxmlformats.org/officeDocument/2006/relationships" id="2147483648" r:id="R7449e44d09e24336"/>
  </p:sldMasterIdLst>
  <p:notesMasterIdLst>
    <p:notesMasterId xmlns:r="http://schemas.openxmlformats.org/officeDocument/2006/relationships" r:id="R8d47525d64bf454f"/>
  </p:notesMasterIdLst>
  <p:sldIdLst>
    <p:sldId xmlns:r="http://schemas.openxmlformats.org/officeDocument/2006/relationships" id="256" r:id="Rba92ecee42194b4d"/>
    <p:sldId xmlns:r="http://schemas.openxmlformats.org/officeDocument/2006/relationships" id="257" r:id="Re60211363502463e"/>
    <p:sldId xmlns:r="http://schemas.openxmlformats.org/officeDocument/2006/relationships" id="258" r:id="R4f7f11a452cb4517"/>
    <p:sldId xmlns:r="http://schemas.openxmlformats.org/officeDocument/2006/relationships" id="259" r:id="R1f184beebd9b47c7"/>
    <p:sldId xmlns:r="http://schemas.openxmlformats.org/officeDocument/2006/relationships" id="260" r:id="Raff659ad171e4688"/>
    <p:sldId xmlns:r="http://schemas.openxmlformats.org/officeDocument/2006/relationships" id="261" r:id="R90a9f3be684d4ce4"/>
    <p:sldId xmlns:r="http://schemas.openxmlformats.org/officeDocument/2006/relationships" id="262" r:id="R99f8feb6d3834562"/>
    <p:sldId xmlns:r="http://schemas.openxmlformats.org/officeDocument/2006/relationships" id="263" r:id="Rac7f99a121fe412a"/>
    <p:sldId xmlns:r="http://schemas.openxmlformats.org/officeDocument/2006/relationships" id="264" r:id="R34205f8141174f16"/>
    <p:sldId xmlns:r="http://schemas.openxmlformats.org/officeDocument/2006/relationships" id="265" r:id="Rf2d1afbc3e294e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aefd2258624275" /><Relationship Type="http://schemas.openxmlformats.org/officeDocument/2006/relationships/slideMaster" Target="/ppt/slideMasters/slideMaster1.xml" Id="R7449e44d09e24336" /><Relationship Type="http://schemas.openxmlformats.org/officeDocument/2006/relationships/notesMaster" Target="/ppt/notesMasters/notesMaster1.xml" Id="R8d47525d64bf454f" /><Relationship Type="http://schemas.openxmlformats.org/officeDocument/2006/relationships/presProps" Target="/ppt/presProps.xml" Id="R857db84a2dfd4a76" /><Relationship Type="http://schemas.openxmlformats.org/officeDocument/2006/relationships/tableStyles" Target="/ppt/tableStyles.xml" Id="R6566ed380eda4798" /><Relationship Type="http://schemas.openxmlformats.org/officeDocument/2006/relationships/slide" Target="/ppt/slides/slide1.xml" Id="Rba92ecee42194b4d" /><Relationship Type="http://schemas.openxmlformats.org/officeDocument/2006/relationships/slide" Target="/ppt/slides/slide2.xml" Id="Re60211363502463e" /><Relationship Type="http://schemas.openxmlformats.org/officeDocument/2006/relationships/slide" Target="/ppt/slides/slide3.xml" Id="R4f7f11a452cb4517" /><Relationship Type="http://schemas.openxmlformats.org/officeDocument/2006/relationships/slide" Target="/ppt/slides/slide4.xml" Id="R1f184beebd9b47c7" /><Relationship Type="http://schemas.openxmlformats.org/officeDocument/2006/relationships/slide" Target="/ppt/slides/slide5.xml" Id="Raff659ad171e4688" /><Relationship Type="http://schemas.openxmlformats.org/officeDocument/2006/relationships/slide" Target="/ppt/slides/slide6.xml" Id="R90a9f3be684d4ce4" /><Relationship Type="http://schemas.openxmlformats.org/officeDocument/2006/relationships/slide" Target="/ppt/slides/slide7.xml" Id="R99f8feb6d3834562" /><Relationship Type="http://schemas.openxmlformats.org/officeDocument/2006/relationships/slide" Target="/ppt/slides/slide8.xml" Id="Rac7f99a121fe412a" /><Relationship Type="http://schemas.openxmlformats.org/officeDocument/2006/relationships/slide" Target="/ppt/slides/slide9.xml" Id="R34205f8141174f16" /><Relationship Type="http://schemas.openxmlformats.org/officeDocument/2006/relationships/slide" Target="/ppt/slides/slide10.xml" Id="Rf2d1afbc3e294e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c7a4ec5b2a45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8b280287a24965" /><Relationship Type="http://schemas.openxmlformats.org/officeDocument/2006/relationships/notesMaster" Target="/ppt/notesMasters/notesMaster1.xml" Id="R93b12b2028b14f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468c07ea724e86" /><Relationship Type="http://schemas.openxmlformats.org/officeDocument/2006/relationships/notesMaster" Target="/ppt/notesMasters/notesMaster1.xml" Id="Rcfc197af789e4f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27c42c2a6c448e" /><Relationship Type="http://schemas.openxmlformats.org/officeDocument/2006/relationships/notesMaster" Target="/ppt/notesMasters/notesMaster1.xml" Id="R42ddb6d1658149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598db2d5e843f8" /><Relationship Type="http://schemas.openxmlformats.org/officeDocument/2006/relationships/notesMaster" Target="/ppt/notesMasters/notesMaster1.xml" Id="Rd53f527a33cb4e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2776237a3540f6" /><Relationship Type="http://schemas.openxmlformats.org/officeDocument/2006/relationships/notesMaster" Target="/ppt/notesMasters/notesMaster1.xml" Id="Rdc47939fbf5548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0bf120cf1f4f15" /><Relationship Type="http://schemas.openxmlformats.org/officeDocument/2006/relationships/notesMaster" Target="/ppt/notesMasters/notesMaster1.xml" Id="R86633c479dc540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235bdff4604750" /><Relationship Type="http://schemas.openxmlformats.org/officeDocument/2006/relationships/notesMaster" Target="/ppt/notesMasters/notesMaster1.xml" Id="Ra69ebab90d3846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cf25aa3c1d479a" /><Relationship Type="http://schemas.openxmlformats.org/officeDocument/2006/relationships/notesMaster" Target="/ppt/notesMasters/notesMaster1.xml" Id="R7a1d65e3b03844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adb31262414eb1" /><Relationship Type="http://schemas.openxmlformats.org/officeDocument/2006/relationships/notesMaster" Target="/ppt/notesMasters/notesMaster1.xml" Id="R771dfbdba5d04d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1c041fec5b4ae0" /><Relationship Type="http://schemas.openxmlformats.org/officeDocument/2006/relationships/notesMaster" Target="/ppt/notesMasters/notesMaster1.xml" Id="R354ea87d65b245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 is a local-first agent for someone who holds assets in both the United States and India. It reads several kinds of financial documents, creates one source-backed ledger, and explains the portfolio's value, return, risk, and missing information. Models interpret irregular documents, deterministic code protects financial truth, and the user resolves uncertainty.</a:t>
            </a:r>
          </a:p>
          <a:p xmlns:a="http://schemas.openxmlformats.org/drawingml/2006/main">
            <a:r>
              <a:t/>
            </a:r>
          </a:p>
          <a:p xmlns:a="http://schemas.openxmlformats.org/drawingml/2006/main">
            <a:r>
              <a:t>Sources: ARCHITECTURE.md. Cover illustration generated for this presentation with no user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cross-border investor may have a US brokerage account, a 401(k), Indian mutual funds and cash, and LIC or ULIP policies. Insurance is especially easy to misread. Ten million rupees of term coverage protects the family, but it is not a ten-million-rupee asset. An endowment policy can still be valid when its current surrender value is absent. Setu addresses both fragmented data and the reliability of the combined financial view.</a:t>
            </a:r>
          </a:p>
          <a:p xmlns:a="http://schemas.openxmlformats.org/drawingml/2006/main">
            <a:r>
              <a:t/>
            </a:r>
          </a:p>
          <a:p xmlns:a="http://schemas.openxmlformats.org/drawingml/2006/main">
            <a:r>
              <a:t>Sources: ARCHITECTURE.md; SYNTHETIC_DEMO_SCENARIO.md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turns supported PDFs into a normalized ledger and helps the user understand what is known, what it means, and what is missing. The capstone scope includes source-backed ROI, concentration, currency exposure, known premium commitments, and an explainable health diagnostic. It excludes outward financial actions and personalized tax or market advice. That boundary made the system testable and reduced the impact of a model mistake.</a:t>
            </a:r>
          </a:p>
          <a:p xmlns:a="http://schemas.openxmlformats.org/drawingml/2006/main">
            <a:r>
              <a:t/>
            </a:r>
          </a:p>
          <a:p xmlns:a="http://schemas.openxmlformats.org/drawingml/2006/main">
            <a:r>
              <a:t>Sources: 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 has two related but separate paths. The ingestion path is a LangGraph state machine. PDF text stays local, and OCR runs only when embedded text is missing. Bank balances use a deterministic parser. Holdings and policies can use qwen2.5 through Ollama to produce typed records. Reconciliation independently checks totals and evidence. A mismatch retries once and then pauses for a human decision. Ask Setu is separate. Claude cannot read a PDF or write to the ledger. It can call only three read-only tools for FX, net worth, and portfolio analysis. Python and SQL calculate the answer, and Claude explains the returned JSON. Components communicate through typed state and tool results rather than free-form agent conversations.</a:t>
            </a:r>
          </a:p>
          <a:p xmlns:a="http://schemas.openxmlformats.org/drawingml/2006/main">
            <a:r>
              <a:t/>
            </a:r>
          </a:p>
          <a:p xmlns:a="http://schemas.openxmlformats.org/drawingml/2006/main">
            <a:r>
              <a:t>Sources: 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Provenance is not just an audit column. Every persisted value keeps its statement and date. Duplicate files and repeated statement periods cannot silently increase net worth. The current portfolio uses the latest active snapshot for each account. In the dashboard, the user can deactivate a document. All records linked to that source immediately leave the calculation without being deleted. Reactivating it restores the evidence.</a:t>
            </a:r>
          </a:p>
          <a:p xmlns:a="http://schemas.openxmlformats.org/drawingml/2006/main">
            <a:r>
              <a:t/>
            </a:r>
          </a:p>
          <a:p xmlns:a="http://schemas.openxmlformats.org/drawingml/2006/main">
            <a:r>
              <a:t>Sources: ARCHITECTURE.md;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changed when realistic documents failed. A generic holdings extractor could not safely represent a bank certificate or distinguish insurance coverage from value. The final design uses document-specific handling over one ledger. I also chose not to implement the planned vector store for policy rules because the rule set was small and semantic retrieval could select a plausible but wrong rule. Full Tree of Thought and a generator-critic crew added more complexity than the problem required. Bounded hypotheses ranked by source authority preserved structured reasoning while remaining reproducible.</a:t>
            </a:r>
          </a:p>
          <a:p xmlns:a="http://schemas.openxmlformats.org/drawingml/2006/main">
            <a:r>
              <a:t/>
            </a:r>
          </a:p>
          <a:p xmlns:a="http://schemas.openxmlformats.org/drawingml/2006/main">
            <a:r>
              <a:t>Sources: DESIGN_EVOLUTION.md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start from the reproducible synthetic demo rather than personal data. It contains six source documents covering US brokerage and retirement accounts, Indian mutual funds and cash, Tata AIA insurance, and an LIC policy. The dashboard calculates 275,488 dollars and 50 cents of net worth. It includes the ULIP's stated fund value, excludes term coverage, and keeps the LIC current value unknown because no surrender value is stated. Investment value is 262,135 dollars and 20 cents against 183,045 dollars of source-stated cost, producing 43.21 percent ROI. I will open Portfolio health, then Data sources and deactivate fidelity_brokerage.pdf. Net worth falls to 125,488 dollars and 50 cents and returns exactly when I reactivate it.</a:t>
            </a:r>
          </a:p>
          <a:p xmlns:a="http://schemas.openxmlformats.org/drawingml/2006/main">
            <a:r>
              <a:t/>
            </a:r>
          </a:p>
          <a:p xmlns:a="http://schemas.openxmlformats.org/drawingml/2006/main">
            <a:r>
              <a:t>Sources: SYNTHETIC_DEMO_SCENARIO.md; FINAL_DEMO.md. Screenshot captured from data/setu-demo.db on 2026-09-06.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signals show why Setu adds more value than an asset inventory. The portfolio is equity-heavy, one stock is highly concentrated, USD exposure exceeds the user's declared guardrail, and known cash does not cover all annual policy premiums. Current risk, short-term liquidity risk, and long-term allocation risk are elevated for different reasons. The score is deterministic and each component is visible. It is a diagnostic rather than a market forecast or investment instruction.</a:t>
            </a:r>
          </a:p>
          <a:p xmlns:a="http://schemas.openxmlformats.org/drawingml/2006/main">
            <a:r>
              <a:t/>
            </a:r>
          </a:p>
          <a:p xmlns:a="http://schemas.openxmlformats.org/drawingml/2006/main">
            <a:r>
              <a:t>Sources: SYNTHETIC_DEMO_SCENARIO.md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evaluated the claims against a known synthetic corpus. The final live Ollama run classified all six documents, passed four golden reconciliations, and recovered all seven investment positions with cost basis. A planted mismatch triggered human review. Net worth matched independently generated ground truth exactly, term coverage never entered wealth, all three risk horizons were evaluated, and Claude's registry contained no raw-document tool. The full regression suite passed 110 tests. Six generated documents do not prove universal extraction accuracy. OCR logic is tested, but the recorded run does not cover a broad scanned-image benchmark.</a:t>
            </a:r>
          </a:p>
          <a:p xmlns:a="http://schemas.openxmlformats.org/drawingml/2006/main">
            <a:r>
              <a:t/>
            </a:r>
          </a:p>
          <a:p xmlns:a="http://schemas.openxmlformats.org/drawingml/2006/main">
            <a:r>
              <a:t>Sources: docs/EVALUATION.md; docs/evaluation/final-evaluation.json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Setu's main strength is the control system around the model: local processing, typed state, exact calculations, provenance, bounded tools, and human review. Its current limits are explicit, and the next work is to broaden evidence before adding autonomy. The public repository contains the code, architecture, synthetic demo, evaluation artifact, tests, and review instructions. My central lesson is that dependable agents come from clear boundaries between interpretation, truth, and action.</a:t>
            </a:r>
          </a:p>
          <a:p xmlns:a="http://schemas.openxmlformats.org/drawingml/2006/main">
            <a:r>
              <a:t/>
            </a:r>
          </a:p>
          <a:p xmlns:a="http://schemas.openxmlformats.org/drawingml/2006/main">
            <a:r>
              <a:t>Sources: ARCHITECTURE.md; README.md. Cover illustration generated for this presentation with no user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131fd0f98547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ca38f3bc544d3a" /><Relationship Type="http://schemas.openxmlformats.org/officeDocument/2006/relationships/slideLayout" Target="/ppt/slideLayouts/slideLayout1.xml" Id="Rcd08ffb3b6934d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08ffb3b6934d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7dcb74b0534869" /><Relationship Type="http://schemas.openxmlformats.org/officeDocument/2006/relationships/image" Target="/ppt/media/image.png" Id="R37020de99bcc4a8f" /><Relationship Type="http://schemas.openxmlformats.org/officeDocument/2006/relationships/notesSlide" Target="/ppt/notesSlides/notesSlide1.xml" Id="Re6ad9ada716a44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d037d763ab4d05" /><Relationship Type="http://schemas.openxmlformats.org/officeDocument/2006/relationships/notesSlide" Target="/ppt/notesSlides/notesSlide2.xml" Id="R50561badf67249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30b9f67a184531" /><Relationship Type="http://schemas.openxmlformats.org/officeDocument/2006/relationships/notesSlide" Target="/ppt/notesSlides/notesSlide3.xml" Id="Re63ed3698cfe4f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dbd79c14d64311" /><Relationship Type="http://schemas.openxmlformats.org/officeDocument/2006/relationships/notesSlide" Target="/ppt/notesSlides/notesSlide4.xml" Id="Re18cb958f84747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9366bdabc74c64" /><Relationship Type="http://schemas.openxmlformats.org/officeDocument/2006/relationships/notesSlide" Target="/ppt/notesSlides/notesSlide5.xml" Id="R863353c80fb148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428baf6ed04e56" /><Relationship Type="http://schemas.openxmlformats.org/officeDocument/2006/relationships/notesSlide" Target="/ppt/notesSlides/notesSlide6.xml" Id="R5b76808957e04f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2efb6eebba4cc2" /><Relationship Type="http://schemas.openxmlformats.org/officeDocument/2006/relationships/image" Target="/ppt/media/image2.png" Id="R195f19d9e039400c" /><Relationship Type="http://schemas.openxmlformats.org/officeDocument/2006/relationships/notesSlide" Target="/ppt/notesSlides/notesSlide7.xml" Id="Rca70d26d34bc49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0490d0b29b413c" /><Relationship Type="http://schemas.openxmlformats.org/officeDocument/2006/relationships/notesSlide" Target="/ppt/notesSlides/notesSlide8.xml" Id="R62fc30e9a37b46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3d38115a07a4fa3" /><Relationship Type="http://schemas.openxmlformats.org/officeDocument/2006/relationships/notesSlide" Target="/ppt/notesSlides/notesSlide9.xml" Id="R331af2497f104b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172804ff8d4c97" /><Relationship Type="http://schemas.openxmlformats.org/officeDocument/2006/relationships/image" Target="/ppt/media/image3.png" Id="R5d3e7408745644a7" /><Relationship Type="http://schemas.openxmlformats.org/officeDocument/2006/relationships/notesSlide" Target="/ppt/notesSlides/notesSlide10.xml" Id="Re7cf5b4797294fe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7020de99bcc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97E034-429A-4451-BC36-1FC36785CAD5}"/>
              </a:ext>
            </a:extLst>
          </p:cNvPr>
          <p:cNvSpPr>
            <a:spLocks xmlns:a="http://schemas.openxmlformats.org/drawingml/2006/main" noGrp="1"/>
          </p:cNvSpPr>
          <p:nvPr/>
        </p:nvSpPr>
        <p:spPr>
          <a:xfrm xmlns:a="http://schemas.openxmlformats.org/drawingml/2006/main">
            <a:off x="647700" y="1066800"/>
            <a:ext cx="666750" cy="57150"/>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2F1FDFB-F2D1-4CD4-A56D-06B056EF7971}"/>
              </a:ext>
            </a:extLst>
          </p:cNvPr>
          <p:cNvSpPr>
            <a:spLocks xmlns:a="http://schemas.openxmlformats.org/drawingml/2006/main" noGrp="1"/>
          </p:cNvSpPr>
          <p:nvPr/>
        </p:nvSpPr>
        <p:spPr>
          <a:xfrm xmlns:a="http://schemas.openxmlformats.org/drawingml/2006/main">
            <a:off x="647700" y="13906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5400" b="1">
                <a:solidFill>
                  <a:srgbClr val="123F56"/>
                </a:solidFill>
                <a:latin typeface="Arial"/>
                <a:ea typeface="Arial"/>
                <a:cs typeface="Arial"/>
              </a:defRPr>
            </a:pPr>
            <a:r>
              <a:rPr sz="5400" b="1">
                <a:solidFill>
                  <a:srgbClr val="123F56"/>
                </a:solidFill>
                <a:latin typeface="Arial"/>
                <a:ea typeface="Arial"/>
                <a:cs typeface="Arial"/>
              </a:rPr>
              <a:t>Setu</a:t>
            </a:r>
          </a:p>
        </p:txBody>
      </p:sp>
      <p:sp>
        <p:nvSpPr>
          <p:cNvPr id="4" name="">
            <a:extLst xmlns:a="http://schemas.openxmlformats.org/drawingml/2006/main">
              <a:ext uri="{FF2B5EF4-FFF2-40B4-BE49-F238E27FC236}">
                <a16:creationId xmlns:a16="http://schemas.microsoft.com/office/drawing/2014/main" id="{FFDA24FE-D686-4C74-A1BF-FCFB345D0494}"/>
              </a:ext>
            </a:extLst>
          </p:cNvPr>
          <p:cNvSpPr>
            <a:spLocks xmlns:a="http://schemas.openxmlformats.org/drawingml/2006/main" noGrp="1"/>
          </p:cNvSpPr>
          <p:nvPr/>
        </p:nvSpPr>
        <p:spPr>
          <a:xfrm xmlns:a="http://schemas.openxmlformats.org/drawingml/2006/main">
            <a:off x="666750" y="22669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625" b="1">
                <a:solidFill>
                  <a:srgbClr val="172A33"/>
                </a:solidFill>
                <a:latin typeface="Arial"/>
                <a:ea typeface="Arial"/>
                <a:cs typeface="Arial"/>
              </a:defRPr>
            </a:pPr>
            <a:r>
              <a:rPr sz="2625" b="1">
                <a:solidFill>
                  <a:srgbClr val="172A33"/>
                </a:solidFill>
                <a:latin typeface="Arial"/>
                <a:ea typeface="Arial"/>
                <a:cs typeface="Arial"/>
              </a:rPr>
              <a:t>Cross-border wealth agent</a:t>
            </a:r>
          </a:p>
        </p:txBody>
      </p:sp>
      <p:sp>
        <p:nvSpPr>
          <p:cNvPr id="5" name="">
            <a:extLst xmlns:a="http://schemas.openxmlformats.org/drawingml/2006/main">
              <a:ext uri="{FF2B5EF4-FFF2-40B4-BE49-F238E27FC236}">
                <a16:creationId xmlns:a16="http://schemas.microsoft.com/office/drawing/2014/main" id="{E818E10A-2911-47DC-986D-24122E5DBB41}"/>
              </a:ext>
            </a:extLst>
          </p:cNvPr>
          <p:cNvSpPr>
            <a:spLocks xmlns:a="http://schemas.openxmlformats.org/drawingml/2006/main" noGrp="1"/>
          </p:cNvSpPr>
          <p:nvPr/>
        </p:nvSpPr>
        <p:spPr>
          <a:xfrm xmlns:a="http://schemas.openxmlformats.org/drawingml/2006/main">
            <a:off x="685800" y="339090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657377"/>
                </a:solidFill>
                <a:latin typeface="Arial"/>
                <a:ea typeface="Arial"/>
                <a:cs typeface="Arial"/>
              </a:defRPr>
            </a:pPr>
            <a:r>
              <a:rPr sz="1725" b="0">
                <a:solidFill>
                  <a:srgbClr val="657377"/>
                </a:solidFill>
                <a:latin typeface="Arial"/>
                <a:ea typeface="Arial"/>
                <a:cs typeface="Arial"/>
              </a:rPr>
              <a:t>Local interpretation. Exact calculations. Human control.</a:t>
            </a:r>
          </a:p>
        </p:txBody>
      </p:sp>
      <p:sp>
        <p:nvSpPr>
          <p:cNvPr id="6" name="">
            <a:extLst xmlns:a="http://schemas.openxmlformats.org/drawingml/2006/main">
              <a:ext uri="{FF2B5EF4-FFF2-40B4-BE49-F238E27FC236}">
                <a16:creationId xmlns:a16="http://schemas.microsoft.com/office/drawing/2014/main" id="{3CF88271-4331-4D3E-81D7-319976187693}"/>
              </a:ext>
            </a:extLst>
          </p:cNvPr>
          <p:cNvSpPr>
            <a:spLocks xmlns:a="http://schemas.openxmlformats.org/drawingml/2006/main" noGrp="1"/>
          </p:cNvSpPr>
          <p:nvPr/>
        </p:nvSpPr>
        <p:spPr>
          <a:xfrm xmlns:a="http://schemas.openxmlformats.org/drawingml/2006/main">
            <a:off x="685800" y="43624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C76032"/>
                </a:solidFill>
                <a:latin typeface="Arial"/>
                <a:ea typeface="Arial"/>
                <a:cs typeface="Arial"/>
              </a:defRPr>
            </a:pPr>
            <a:r>
              <a:rPr sz="1350" b="1">
                <a:solidFill>
                  <a:srgbClr val="C76032"/>
                </a:solidFill>
                <a:latin typeface="Arial"/>
                <a:ea typeface="Arial"/>
                <a:cs typeface="Arial"/>
              </a:rPr>
              <a:t>US and India financial documents</a:t>
            </a:r>
          </a:p>
        </p:txBody>
      </p:sp>
      <p:sp>
        <p:nvSpPr>
          <p:cNvPr id="7" name="">
            <a:extLst xmlns:a="http://schemas.openxmlformats.org/drawingml/2006/main">
              <a:ext uri="{FF2B5EF4-FFF2-40B4-BE49-F238E27FC236}">
                <a16:creationId xmlns:a16="http://schemas.microsoft.com/office/drawing/2014/main" id="{5D224513-30DC-40CD-9921-C5B4AF9F9D53}"/>
              </a:ext>
            </a:extLst>
          </p:cNvPr>
          <p:cNvSpPr>
            <a:spLocks xmlns:a="http://schemas.openxmlformats.org/drawingml/2006/main" noGrp="1"/>
          </p:cNvSpPr>
          <p:nvPr/>
        </p:nvSpPr>
        <p:spPr>
          <a:xfrm xmlns:a="http://schemas.openxmlformats.org/drawingml/2006/main">
            <a:off x="685800" y="57150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1275" b="0">
                <a:solidFill>
                  <a:srgbClr val="172A33"/>
                </a:solidFill>
                <a:latin typeface="Arial"/>
                <a:ea typeface="Arial"/>
                <a:cs typeface="Arial"/>
              </a:defRPr>
            </a:pPr>
            <a:r>
              <a:rPr sz="1275" b="0">
                <a:solidFill>
                  <a:srgbClr val="172A33"/>
                </a:solidFill>
                <a:latin typeface="Arial"/>
                <a:ea typeface="Arial"/>
                <a:cs typeface="Arial"/>
              </a:rPr>
              <a:t>CMU Agentic AI Capstone</a:t>
            </a:r>
          </a:p>
          <a:p xmlns:a="http://schemas.openxmlformats.org/drawingml/2006/main">
            <a:pPr algn="l">
              <a:lnSpc>
                <a:spcPct val="125000"/>
              </a:lnSpc>
              <a:buNone/>
              <a:defRPr sz="1275" b="0">
                <a:solidFill>
                  <a:srgbClr val="172A33"/>
                </a:solidFill>
                <a:latin typeface="Arial"/>
                <a:ea typeface="Arial"/>
                <a:cs typeface="Arial"/>
              </a:defRPr>
            </a:pPr>
            <a:r>
              <a:rPr sz="1275" b="0">
                <a:solidFill>
                  <a:srgbClr val="172A33"/>
                </a:solidFill>
                <a:latin typeface="Arial"/>
                <a:ea typeface="Arial"/>
                <a:cs typeface="Arial"/>
              </a:rPr>
              <a:t>2026</a:t>
            </a:r>
          </a:p>
        </p:txBody>
      </p:sp>
    </p:spTree>
    <p:extLst>
      <p:ext uri="{BB962C8B-B14F-4D97-AF65-F5344CB8AC3E}">
        <p14:creationId xmlns:p14="http://schemas.microsoft.com/office/powerpoint/2010/main" val="614378809"/>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4957838-0D2C-4C55-BA38-5B9215FEFCF4}"/>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53BEE9-38CB-40C6-833C-33BC0B780CEB}"/>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Financial truth is split across products</a:t>
            </a:r>
          </a:p>
        </p:txBody>
      </p:sp>
      <p:sp>
        <p:nvSpPr>
          <p:cNvPr id="3" name="">
            <a:extLst xmlns:a="http://schemas.openxmlformats.org/drawingml/2006/main">
              <a:ext uri="{FF2B5EF4-FFF2-40B4-BE49-F238E27FC236}">
                <a16:creationId xmlns:a16="http://schemas.microsoft.com/office/drawing/2014/main" id="{8BA2D058-A1EA-491F-9C7A-4D5A158BF615}"/>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The same number can mean a balance, a market value, coverage, or an estimate</a:t>
            </a:r>
          </a:p>
        </p:txBody>
      </p:sp>
      <p:sp>
        <p:nvSpPr>
          <p:cNvPr id="4" name="">
            <a:extLst xmlns:a="http://schemas.openxmlformats.org/drawingml/2006/main">
              <a:ext uri="{FF2B5EF4-FFF2-40B4-BE49-F238E27FC236}">
                <a16:creationId xmlns:a16="http://schemas.microsoft.com/office/drawing/2014/main" id="{41EC2745-587A-4AED-A56D-C441EF02A627}"/>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E65220D-B7CA-4DC1-AD88-B31983F8D668}"/>
              </a:ext>
            </a:extLst>
          </p:cNvPr>
          <p:cNvSpPr>
            <a:spLocks xmlns:a="http://schemas.openxmlformats.org/drawingml/2006/main" noGrp="1"/>
          </p:cNvSpPr>
          <p:nvPr/>
        </p:nvSpPr>
        <p:spPr>
          <a:xfrm xmlns:a="http://schemas.openxmlformats.org/drawingml/2006/main">
            <a:off x="609600" y="1981200"/>
            <a:ext cx="2076450" cy="66675"/>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750A51-84EB-4CE8-9B88-8F38A4ED79B4}"/>
              </a:ext>
            </a:extLst>
          </p:cNvPr>
          <p:cNvSpPr>
            <a:spLocks xmlns:a="http://schemas.openxmlformats.org/drawingml/2006/main" noGrp="1"/>
          </p:cNvSpPr>
          <p:nvPr/>
        </p:nvSpPr>
        <p:spPr>
          <a:xfrm xmlns:a="http://schemas.openxmlformats.org/drawingml/2006/main">
            <a:off x="609600" y="2047875"/>
            <a:ext cx="2076450" cy="2381250"/>
          </a:xfrm>
          <a:prstGeom xmlns:a="http://schemas.openxmlformats.org/drawingml/2006/main" prst="roundRect">
            <a:avLst>
              <a:gd name="adj" fmla="val 5505"/>
            </a:avLst>
          </a:prstGeom>
          <a:solidFill xmlns:a="http://schemas.openxmlformats.org/drawingml/2006/main">
            <a:srgbClr val="E3EDF1"/>
          </a:solidFill>
          <a:ln xmlns:a="http://schemas.openxmlformats.org/drawingml/2006/main" w="9525">
            <a:solidFill>
              <a:srgbClr val="D8D2C6"/>
            </a:solidFill>
            <a:prstDash val="solid"/>
          </a:ln>
        </p:spPr>
      </p:sp>
      <p:sp>
        <p:nvSpPr>
          <p:cNvPr id="7" name="">
            <a:extLst xmlns:a="http://schemas.openxmlformats.org/drawingml/2006/main">
              <a:ext uri="{FF2B5EF4-FFF2-40B4-BE49-F238E27FC236}">
                <a16:creationId xmlns:a16="http://schemas.microsoft.com/office/drawing/2014/main" id="{634C6534-858C-4607-A38D-CAF60EB3E781}"/>
              </a:ext>
            </a:extLst>
          </p:cNvPr>
          <p:cNvSpPr>
            <a:spLocks xmlns:a="http://schemas.openxmlformats.org/drawingml/2006/main" noGrp="1"/>
          </p:cNvSpPr>
          <p:nvPr/>
        </p:nvSpPr>
        <p:spPr>
          <a:xfrm xmlns:a="http://schemas.openxmlformats.org/drawingml/2006/main">
            <a:off x="781050" y="2305050"/>
            <a:ext cx="1733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23F56"/>
                </a:solidFill>
                <a:latin typeface="Arial"/>
                <a:ea typeface="Arial"/>
                <a:cs typeface="Arial"/>
              </a:defRPr>
            </a:pPr>
            <a:r>
              <a:rPr sz="1875" b="1">
                <a:solidFill>
                  <a:srgbClr val="123F56"/>
                </a:solidFill>
                <a:latin typeface="Arial"/>
                <a:ea typeface="Arial"/>
                <a:cs typeface="Arial"/>
              </a:rPr>
              <a:t>US brokerage</a:t>
            </a:r>
          </a:p>
        </p:txBody>
      </p:sp>
      <p:sp>
        <p:nvSpPr>
          <p:cNvPr id="8" name="">
            <a:extLst xmlns:a="http://schemas.openxmlformats.org/drawingml/2006/main">
              <a:ext uri="{FF2B5EF4-FFF2-40B4-BE49-F238E27FC236}">
                <a16:creationId xmlns:a16="http://schemas.microsoft.com/office/drawing/2014/main" id="{0EDCC4AA-926A-4845-9745-1E8F8465A80C}"/>
              </a:ext>
            </a:extLst>
          </p:cNvPr>
          <p:cNvSpPr>
            <a:spLocks xmlns:a="http://schemas.openxmlformats.org/drawingml/2006/main" noGrp="1"/>
          </p:cNvSpPr>
          <p:nvPr/>
        </p:nvSpPr>
        <p:spPr>
          <a:xfrm xmlns:a="http://schemas.openxmlformats.org/drawingml/2006/main">
            <a:off x="781050" y="3067050"/>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Holdings</a:t>
            </a:r>
          </a:p>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Cost basis</a:t>
            </a:r>
          </a:p>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USD market value</a:t>
            </a:r>
          </a:p>
        </p:txBody>
      </p:sp>
      <p:sp>
        <p:nvSpPr>
          <p:cNvPr id="9" name="">
            <a:extLst xmlns:a="http://schemas.openxmlformats.org/drawingml/2006/main">
              <a:ext uri="{FF2B5EF4-FFF2-40B4-BE49-F238E27FC236}">
                <a16:creationId xmlns:a16="http://schemas.microsoft.com/office/drawing/2014/main" id="{6F0F2ABA-0B47-4C3A-B863-1751E83E312E}"/>
              </a:ext>
            </a:extLst>
          </p:cNvPr>
          <p:cNvSpPr>
            <a:spLocks xmlns:a="http://schemas.openxmlformats.org/drawingml/2006/main" noGrp="1"/>
          </p:cNvSpPr>
          <p:nvPr/>
        </p:nvSpPr>
        <p:spPr>
          <a:xfrm xmlns:a="http://schemas.openxmlformats.org/drawingml/2006/main">
            <a:off x="3181350" y="1981200"/>
            <a:ext cx="2076450" cy="66675"/>
          </a:xfrm>
          <a:prstGeom xmlns:a="http://schemas.openxmlformats.org/drawingml/2006/main" prst="roundRect">
            <a:avLst>
              <a:gd name="adj" fmla="val 50000"/>
            </a:avLst>
          </a:prstGeom>
          <a:solidFill xmlns:a="http://schemas.openxmlformats.org/drawingml/2006/main">
            <a:srgbClr val="25765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C692CA-8A12-4EF8-908E-C3B982800906}"/>
              </a:ext>
            </a:extLst>
          </p:cNvPr>
          <p:cNvSpPr>
            <a:spLocks xmlns:a="http://schemas.openxmlformats.org/drawingml/2006/main" noGrp="1"/>
          </p:cNvSpPr>
          <p:nvPr/>
        </p:nvSpPr>
        <p:spPr>
          <a:xfrm xmlns:a="http://schemas.openxmlformats.org/drawingml/2006/main">
            <a:off x="3181350" y="2047875"/>
            <a:ext cx="2076450" cy="2381250"/>
          </a:xfrm>
          <a:prstGeom xmlns:a="http://schemas.openxmlformats.org/drawingml/2006/main" prst="roundRect">
            <a:avLst>
              <a:gd name="adj" fmla="val 5505"/>
            </a:avLst>
          </a:prstGeom>
          <a:solidFill xmlns:a="http://schemas.openxmlformats.org/drawingml/2006/main">
            <a:srgbClr val="E7F0EA"/>
          </a:solidFill>
          <a:ln xmlns:a="http://schemas.openxmlformats.org/drawingml/2006/main" w="9525">
            <a:solidFill>
              <a:srgbClr val="D8D2C6"/>
            </a:solidFill>
            <a:prstDash val="solid"/>
          </a:ln>
        </p:spPr>
      </p:sp>
      <p:sp>
        <p:nvSpPr>
          <p:cNvPr id="11" name="">
            <a:extLst xmlns:a="http://schemas.openxmlformats.org/drawingml/2006/main">
              <a:ext uri="{FF2B5EF4-FFF2-40B4-BE49-F238E27FC236}">
                <a16:creationId xmlns:a16="http://schemas.microsoft.com/office/drawing/2014/main" id="{CF9F3858-3DD8-4902-9A06-3ECF697479B5}"/>
              </a:ext>
            </a:extLst>
          </p:cNvPr>
          <p:cNvSpPr>
            <a:spLocks xmlns:a="http://schemas.openxmlformats.org/drawingml/2006/main" noGrp="1"/>
          </p:cNvSpPr>
          <p:nvPr/>
        </p:nvSpPr>
        <p:spPr>
          <a:xfrm xmlns:a="http://schemas.openxmlformats.org/drawingml/2006/main">
            <a:off x="3352800" y="2305050"/>
            <a:ext cx="1733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257653"/>
                </a:solidFill>
                <a:latin typeface="Arial"/>
                <a:ea typeface="Arial"/>
                <a:cs typeface="Arial"/>
              </a:defRPr>
            </a:pPr>
            <a:r>
              <a:rPr sz="1875" b="1">
                <a:solidFill>
                  <a:srgbClr val="257653"/>
                </a:solidFill>
                <a:latin typeface="Arial"/>
                <a:ea typeface="Arial"/>
                <a:cs typeface="Arial"/>
              </a:rPr>
              <a:t>Indian bank and funds</a:t>
            </a:r>
          </a:p>
        </p:txBody>
      </p:sp>
      <p:sp>
        <p:nvSpPr>
          <p:cNvPr id="12" name="">
            <a:extLst xmlns:a="http://schemas.openxmlformats.org/drawingml/2006/main">
              <a:ext uri="{FF2B5EF4-FFF2-40B4-BE49-F238E27FC236}">
                <a16:creationId xmlns:a16="http://schemas.microsoft.com/office/drawing/2014/main" id="{63785717-630A-4AD9-B7EC-2D30E74DAE67}"/>
              </a:ext>
            </a:extLst>
          </p:cNvPr>
          <p:cNvSpPr>
            <a:spLocks xmlns:a="http://schemas.openxmlformats.org/drawingml/2006/main" noGrp="1"/>
          </p:cNvSpPr>
          <p:nvPr/>
        </p:nvSpPr>
        <p:spPr>
          <a:xfrm xmlns:a="http://schemas.openxmlformats.org/drawingml/2006/main">
            <a:off x="3352800" y="3067050"/>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Balances</a:t>
            </a:r>
          </a:p>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Fund units</a:t>
            </a:r>
          </a:p>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INR values</a:t>
            </a:r>
          </a:p>
        </p:txBody>
      </p:sp>
      <p:sp>
        <p:nvSpPr>
          <p:cNvPr id="13" name="">
            <a:extLst xmlns:a="http://schemas.openxmlformats.org/drawingml/2006/main">
              <a:ext uri="{FF2B5EF4-FFF2-40B4-BE49-F238E27FC236}">
                <a16:creationId xmlns:a16="http://schemas.microsoft.com/office/drawing/2014/main" id="{A236C96F-F65D-4341-AACB-8D5EF6C9F9C4}"/>
              </a:ext>
            </a:extLst>
          </p:cNvPr>
          <p:cNvSpPr>
            <a:spLocks xmlns:a="http://schemas.openxmlformats.org/drawingml/2006/main" noGrp="1"/>
          </p:cNvSpPr>
          <p:nvPr/>
        </p:nvSpPr>
        <p:spPr>
          <a:xfrm xmlns:a="http://schemas.openxmlformats.org/drawingml/2006/main">
            <a:off x="5753100" y="1981200"/>
            <a:ext cx="2076450" cy="6667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54ABB2-D69E-4102-B8F4-4566FA8198EE}"/>
              </a:ext>
            </a:extLst>
          </p:cNvPr>
          <p:cNvSpPr>
            <a:spLocks xmlns:a="http://schemas.openxmlformats.org/drawingml/2006/main" noGrp="1"/>
          </p:cNvSpPr>
          <p:nvPr/>
        </p:nvSpPr>
        <p:spPr>
          <a:xfrm xmlns:a="http://schemas.openxmlformats.org/drawingml/2006/main">
            <a:off x="5753100" y="2047875"/>
            <a:ext cx="2076450" cy="2381250"/>
          </a:xfrm>
          <a:prstGeom xmlns:a="http://schemas.openxmlformats.org/drawingml/2006/main" prst="roundRect">
            <a:avLst>
              <a:gd name="adj" fmla="val 5505"/>
            </a:avLst>
          </a:prstGeom>
          <a:solidFill xmlns:a="http://schemas.openxmlformats.org/drawingml/2006/main">
            <a:srgbClr val="F5E5DB"/>
          </a:solidFill>
          <a:ln xmlns:a="http://schemas.openxmlformats.org/drawingml/2006/main" w="9525">
            <a:solidFill>
              <a:srgbClr val="D8D2C6"/>
            </a:solidFill>
            <a:prstDash val="solid"/>
          </a:ln>
        </p:spPr>
      </p:sp>
      <p:sp>
        <p:nvSpPr>
          <p:cNvPr id="15" name="">
            <a:extLst xmlns:a="http://schemas.openxmlformats.org/drawingml/2006/main">
              <a:ext uri="{FF2B5EF4-FFF2-40B4-BE49-F238E27FC236}">
                <a16:creationId xmlns:a16="http://schemas.microsoft.com/office/drawing/2014/main" id="{4C268638-3EF5-4054-B533-59AD3DA89965}"/>
              </a:ext>
            </a:extLst>
          </p:cNvPr>
          <p:cNvSpPr>
            <a:spLocks xmlns:a="http://schemas.openxmlformats.org/drawingml/2006/main" noGrp="1"/>
          </p:cNvSpPr>
          <p:nvPr/>
        </p:nvSpPr>
        <p:spPr>
          <a:xfrm xmlns:a="http://schemas.openxmlformats.org/drawingml/2006/main">
            <a:off x="5924550" y="2305050"/>
            <a:ext cx="1733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C76032"/>
                </a:solidFill>
                <a:latin typeface="Arial"/>
                <a:ea typeface="Arial"/>
                <a:cs typeface="Arial"/>
              </a:defRPr>
            </a:pPr>
            <a:r>
              <a:rPr sz="1875" b="1">
                <a:solidFill>
                  <a:srgbClr val="C76032"/>
                </a:solidFill>
                <a:latin typeface="Arial"/>
                <a:ea typeface="Arial"/>
                <a:cs typeface="Arial"/>
              </a:rPr>
              <a:t>Insurance</a:t>
            </a:r>
          </a:p>
        </p:txBody>
      </p:sp>
      <p:sp>
        <p:nvSpPr>
          <p:cNvPr id="16" name="">
            <a:extLst xmlns:a="http://schemas.openxmlformats.org/drawingml/2006/main">
              <a:ext uri="{FF2B5EF4-FFF2-40B4-BE49-F238E27FC236}">
                <a16:creationId xmlns:a16="http://schemas.microsoft.com/office/drawing/2014/main" id="{7E3961FE-7AD2-49A2-B829-2B7885907CBC}"/>
              </a:ext>
            </a:extLst>
          </p:cNvPr>
          <p:cNvSpPr>
            <a:spLocks xmlns:a="http://schemas.openxmlformats.org/drawingml/2006/main" noGrp="1"/>
          </p:cNvSpPr>
          <p:nvPr/>
        </p:nvSpPr>
        <p:spPr>
          <a:xfrm xmlns:a="http://schemas.openxmlformats.org/drawingml/2006/main">
            <a:off x="5924550" y="3067050"/>
            <a:ext cx="1733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Coverage</a:t>
            </a:r>
          </a:p>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Premiums</a:t>
            </a:r>
          </a:p>
          <a:p xmlns:a="http://schemas.openxmlformats.org/drawingml/2006/main">
            <a:pPr algn="l">
              <a:lnSpc>
                <a:spcPct val="142000"/>
              </a:lnSpc>
              <a:buNone/>
              <a:defRPr sz="1575" b="0">
                <a:solidFill>
                  <a:srgbClr val="172A33"/>
                </a:solidFill>
                <a:latin typeface="Arial"/>
                <a:ea typeface="Arial"/>
                <a:cs typeface="Arial"/>
              </a:defRPr>
            </a:pPr>
            <a:r>
              <a:rPr sz="1575" b="0">
                <a:solidFill>
                  <a:srgbClr val="172A33"/>
                </a:solidFill>
                <a:latin typeface="Arial"/>
                <a:ea typeface="Arial"/>
                <a:cs typeface="Arial"/>
              </a:rPr>
              <a:t>Fund or surrender value</a:t>
            </a:r>
          </a:p>
        </p:txBody>
      </p:sp>
      <p:sp>
        <p:nvSpPr>
          <p:cNvPr id="17" name="">
            <a:extLst xmlns:a="http://schemas.openxmlformats.org/drawingml/2006/main">
              <a:ext uri="{FF2B5EF4-FFF2-40B4-BE49-F238E27FC236}">
                <a16:creationId xmlns:a16="http://schemas.microsoft.com/office/drawing/2014/main" id="{9D9AF355-82BF-4272-B3AB-A340BBCACD78}"/>
              </a:ext>
            </a:extLst>
          </p:cNvPr>
          <p:cNvSpPr>
            <a:spLocks xmlns:a="http://schemas.openxmlformats.org/drawingml/2006/main" noGrp="1"/>
          </p:cNvSpPr>
          <p:nvPr/>
        </p:nvSpPr>
        <p:spPr>
          <a:xfrm xmlns:a="http://schemas.openxmlformats.org/drawingml/2006/main">
            <a:off x="7886700" y="253365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1">
                <a:solidFill>
                  <a:srgbClr val="397DA0"/>
                </a:solidFill>
                <a:latin typeface="Arial"/>
                <a:ea typeface="Arial"/>
                <a:cs typeface="Arial"/>
              </a:defRPr>
            </a:pPr>
            <a:r>
              <a:rPr sz="1275" b="1">
                <a:solidFill>
                  <a:srgbClr val="397DA0"/>
                </a:solidFill>
                <a:latin typeface="Arial"/>
                <a:ea typeface="Arial"/>
                <a:cs typeface="Arial"/>
              </a:rPr>
              <a:t>Normalize by source type</a:t>
            </a:r>
          </a:p>
        </p:txBody>
      </p:sp>
      <p:sp>
        <p:nvSpPr>
          <p:cNvPr id="18" name="">
            <a:extLst xmlns:a="http://schemas.openxmlformats.org/drawingml/2006/main">
              <a:ext uri="{FF2B5EF4-FFF2-40B4-BE49-F238E27FC236}">
                <a16:creationId xmlns:a16="http://schemas.microsoft.com/office/drawing/2014/main" id="{135ADD6B-D149-4B99-A555-F11B145D70A4}"/>
              </a:ext>
            </a:extLst>
          </p:cNvPr>
          <p:cNvSpPr>
            <a:spLocks xmlns:a="http://schemas.openxmlformats.org/drawingml/2006/main" noGrp="1"/>
          </p:cNvSpPr>
          <p:nvPr/>
        </p:nvSpPr>
        <p:spPr>
          <a:xfrm xmlns:a="http://schemas.openxmlformats.org/drawingml/2006/main">
            <a:off x="8058150" y="3114675"/>
            <a:ext cx="895350" cy="457200"/>
          </a:xfrm>
          <a:prstGeom xmlns:a="http://schemas.openxmlformats.org/drawingml/2006/main" prst="rightArrow">
            <a:avLst/>
          </a:prstGeom>
          <a:solidFill xmlns:a="http://schemas.openxmlformats.org/drawingml/2006/main">
            <a:srgbClr val="397DA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2A45D64-2C51-427A-B691-1A96FF6499D8}"/>
              </a:ext>
            </a:extLst>
          </p:cNvPr>
          <p:cNvSpPr>
            <a:spLocks xmlns:a="http://schemas.openxmlformats.org/drawingml/2006/main" noGrp="1"/>
          </p:cNvSpPr>
          <p:nvPr/>
        </p:nvSpPr>
        <p:spPr>
          <a:xfrm xmlns:a="http://schemas.openxmlformats.org/drawingml/2006/main">
            <a:off x="9105900" y="2552700"/>
            <a:ext cx="2133600" cy="1428750"/>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10000"/>
              </a:lnSpc>
              <a:buNone/>
              <a:defRPr sz="1950" b="1">
                <a:solidFill>
                  <a:srgbClr val="FFFFFF"/>
                </a:solidFill>
                <a:latin typeface="Arial"/>
                <a:ea typeface="Arial"/>
                <a:cs typeface="Arial"/>
              </a:defRPr>
            </a:pPr>
            <a:r>
              <a:rPr sz="1950" b="1">
                <a:solidFill>
                  <a:srgbClr val="FFFFFF"/>
                </a:solidFill>
                <a:latin typeface="Arial"/>
                <a:ea typeface="Arial"/>
                <a:cs typeface="Arial"/>
              </a:rPr>
              <a:t>ONE</a:t>
            </a:r>
          </a:p>
          <a:p xmlns:a="http://schemas.openxmlformats.org/drawingml/2006/main">
            <a:pPr algn="ctr">
              <a:lnSpc>
                <a:spcPct val="110000"/>
              </a:lnSpc>
              <a:buNone/>
              <a:defRPr sz="1950" b="1">
                <a:solidFill>
                  <a:srgbClr val="FFFFFF"/>
                </a:solidFill>
                <a:latin typeface="Arial"/>
                <a:ea typeface="Arial"/>
                <a:cs typeface="Arial"/>
              </a:defRPr>
            </a:pPr>
            <a:r>
              <a:rPr sz="1950" b="1">
                <a:solidFill>
                  <a:srgbClr val="FFFFFF"/>
                </a:solidFill>
                <a:latin typeface="Arial"/>
                <a:ea typeface="Arial"/>
                <a:cs typeface="Arial"/>
              </a:rPr>
              <a:t>PORTFOLIO</a:t>
            </a:r>
          </a:p>
        </p:txBody>
      </p:sp>
      <p:sp>
        <p:nvSpPr>
          <p:cNvPr id="20" name="">
            <a:extLst xmlns:a="http://schemas.openxmlformats.org/drawingml/2006/main">
              <a:ext uri="{FF2B5EF4-FFF2-40B4-BE49-F238E27FC236}">
                <a16:creationId xmlns:a16="http://schemas.microsoft.com/office/drawing/2014/main" id="{24FBE12B-FC9B-4C14-92BD-FFFD6EF40339}"/>
              </a:ext>
            </a:extLst>
          </p:cNvPr>
          <p:cNvSpPr>
            <a:spLocks xmlns:a="http://schemas.openxmlformats.org/drawingml/2006/main" noGrp="1"/>
          </p:cNvSpPr>
          <p:nvPr/>
        </p:nvSpPr>
        <p:spPr>
          <a:xfrm xmlns:a="http://schemas.openxmlformats.org/drawingml/2006/main">
            <a:off x="685800" y="4953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A63E32"/>
                </a:solidFill>
                <a:latin typeface="Arial"/>
                <a:ea typeface="Arial"/>
                <a:cs typeface="Arial"/>
              </a:defRPr>
            </a:pPr>
            <a:r>
              <a:rPr sz="1725" b="1">
                <a:solidFill>
                  <a:srgbClr val="A63E32"/>
                </a:solidFill>
                <a:latin typeface="Arial"/>
                <a:ea typeface="Arial"/>
                <a:cs typeface="Arial"/>
              </a:rPr>
              <a:t>Coverage is not asset value</a:t>
            </a:r>
          </a:p>
        </p:txBody>
      </p:sp>
      <p:sp>
        <p:nvSpPr>
          <p:cNvPr id="21" name="">
            <a:extLst xmlns:a="http://schemas.openxmlformats.org/drawingml/2006/main">
              <a:ext uri="{FF2B5EF4-FFF2-40B4-BE49-F238E27FC236}">
                <a16:creationId xmlns:a16="http://schemas.microsoft.com/office/drawing/2014/main" id="{D735642F-2C0A-4D8E-9AB7-A2148D0C413C}"/>
              </a:ext>
            </a:extLst>
          </p:cNvPr>
          <p:cNvSpPr>
            <a:spLocks xmlns:a="http://schemas.openxmlformats.org/drawingml/2006/main" noGrp="1"/>
          </p:cNvSpPr>
          <p:nvPr/>
        </p:nvSpPr>
        <p:spPr>
          <a:xfrm xmlns:a="http://schemas.openxmlformats.org/drawingml/2006/main">
            <a:off x="4095750" y="4953000"/>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A27433"/>
                </a:solidFill>
                <a:latin typeface="Arial"/>
                <a:ea typeface="Arial"/>
                <a:cs typeface="Arial"/>
              </a:defRPr>
            </a:pPr>
            <a:r>
              <a:rPr sz="1725" b="1">
                <a:solidFill>
                  <a:srgbClr val="A27433"/>
                </a:solidFill>
                <a:latin typeface="Arial"/>
                <a:ea typeface="Arial"/>
                <a:cs typeface="Arial"/>
              </a:rPr>
              <a:t>A valid policy may have no stated current value</a:t>
            </a:r>
          </a:p>
        </p:txBody>
      </p:sp>
      <p:sp>
        <p:nvSpPr>
          <p:cNvPr id="22" name="">
            <a:extLst xmlns:a="http://schemas.openxmlformats.org/drawingml/2006/main">
              <a:ext uri="{FF2B5EF4-FFF2-40B4-BE49-F238E27FC236}">
                <a16:creationId xmlns:a16="http://schemas.microsoft.com/office/drawing/2014/main" id="{6472694E-73B2-4D51-BE8C-7D3774AD9D55}"/>
              </a:ext>
            </a:extLst>
          </p:cNvPr>
          <p:cNvSpPr>
            <a:spLocks xmlns:a="http://schemas.openxmlformats.org/drawingml/2006/main" noGrp="1"/>
          </p:cNvSpPr>
          <p:nvPr/>
        </p:nvSpPr>
        <p:spPr>
          <a:xfrm xmlns:a="http://schemas.openxmlformats.org/drawingml/2006/main">
            <a:off x="8172450" y="49530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123F56"/>
                </a:solidFill>
                <a:latin typeface="Arial"/>
                <a:ea typeface="Arial"/>
                <a:cs typeface="Arial"/>
              </a:defRPr>
            </a:pPr>
            <a:r>
              <a:rPr sz="1725" b="1">
                <a:solidFill>
                  <a:srgbClr val="123F56"/>
                </a:solidFill>
                <a:latin typeface="Arial"/>
                <a:ea typeface="Arial"/>
                <a:cs typeface="Arial"/>
              </a:rPr>
              <a:t>One extraction error can distort every later conclusion</a:t>
            </a:r>
          </a:p>
        </p:txBody>
      </p:sp>
      <p:sp>
        <p:nvSpPr>
          <p:cNvPr id="23" name="">
            <a:extLst xmlns:a="http://schemas.openxmlformats.org/drawingml/2006/main">
              <a:ext uri="{FF2B5EF4-FFF2-40B4-BE49-F238E27FC236}">
                <a16:creationId xmlns:a16="http://schemas.microsoft.com/office/drawing/2014/main" id="{10592B64-6EA3-4DC7-A8B5-CE8A78F2619B}"/>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E32B856-35A5-4D16-A4D0-CD3CA229BD6F}"/>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CMU Agentic AI Capstone</a:t>
            </a:r>
          </a:p>
        </p:txBody>
      </p:sp>
    </p:spTree>
    <p:extLst>
      <p:ext uri="{BB962C8B-B14F-4D97-AF65-F5344CB8AC3E}">
        <p14:creationId xmlns:p14="http://schemas.microsoft.com/office/powerpoint/2010/main" val="1608373241"/>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F3D080-01E7-4BDA-9406-DEE3778E4984}"/>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DF3BB0-82F3-43CE-9128-9CD768553DD3}"/>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Grounded understanding with a hard action boundary</a:t>
            </a:r>
          </a:p>
        </p:txBody>
      </p:sp>
      <p:sp>
        <p:nvSpPr>
          <p:cNvPr id="3" name="">
            <a:extLst xmlns:a="http://schemas.openxmlformats.org/drawingml/2006/main">
              <a:ext uri="{FF2B5EF4-FFF2-40B4-BE49-F238E27FC236}">
                <a16:creationId xmlns:a16="http://schemas.microsoft.com/office/drawing/2014/main" id="{4AAF5DC9-B371-4B64-B3DE-1BC5A7FDA657}"/>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Setu explains a portfolio but cannot move money or invent unsupported values</a:t>
            </a:r>
          </a:p>
        </p:txBody>
      </p:sp>
      <p:sp>
        <p:nvSpPr>
          <p:cNvPr id="4" name="">
            <a:extLst xmlns:a="http://schemas.openxmlformats.org/drawingml/2006/main">
              <a:ext uri="{FF2B5EF4-FFF2-40B4-BE49-F238E27FC236}">
                <a16:creationId xmlns:a16="http://schemas.microsoft.com/office/drawing/2014/main" id="{B0E9D95E-412F-48DD-917A-A7F9D5E37E46}"/>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A8CC3BF-D826-400C-A7FA-D5BFFB8094EA}"/>
              </a:ext>
            </a:extLst>
          </p:cNvPr>
          <p:cNvSpPr>
            <a:spLocks xmlns:a="http://schemas.openxmlformats.org/drawingml/2006/main" noGrp="1"/>
          </p:cNvSpPr>
          <p:nvPr/>
        </p:nvSpPr>
        <p:spPr>
          <a:xfrm xmlns:a="http://schemas.openxmlformats.org/drawingml/2006/main">
            <a:off x="590550" y="1809750"/>
            <a:ext cx="6743700" cy="4048125"/>
          </a:xfrm>
          <a:prstGeom xmlns:a="http://schemas.openxmlformats.org/drawingml/2006/main" prst="roundRect">
            <a:avLst>
              <a:gd name="adj" fmla="val 4706"/>
            </a:avLst>
          </a:prstGeom>
          <a:solidFill xmlns:a="http://schemas.openxmlformats.org/drawingml/2006/main">
            <a:srgbClr val="EAF1F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C01FA06-C8E2-4E7D-8221-DB5D78BA862D}"/>
              </a:ext>
            </a:extLst>
          </p:cNvPr>
          <p:cNvSpPr>
            <a:spLocks xmlns:a="http://schemas.openxmlformats.org/drawingml/2006/main" noGrp="1"/>
          </p:cNvSpPr>
          <p:nvPr/>
        </p:nvSpPr>
        <p:spPr>
          <a:xfrm xmlns:a="http://schemas.openxmlformats.org/drawingml/2006/main">
            <a:off x="7677150" y="1809750"/>
            <a:ext cx="3924300" cy="4048125"/>
          </a:xfrm>
          <a:prstGeom xmlns:a="http://schemas.openxmlformats.org/drawingml/2006/main" prst="roundRect">
            <a:avLst>
              <a:gd name="adj" fmla="val 4854"/>
            </a:avLst>
          </a:prstGeom>
          <a:solidFill xmlns:a="http://schemas.openxmlformats.org/drawingml/2006/main">
            <a:srgbClr val="123F5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8EDFCC-CEF6-45C5-847A-B24AE29EB07B}"/>
              </a:ext>
            </a:extLst>
          </p:cNvPr>
          <p:cNvSpPr>
            <a:spLocks xmlns:a="http://schemas.openxmlformats.org/drawingml/2006/main" noGrp="1"/>
          </p:cNvSpPr>
          <p:nvPr/>
        </p:nvSpPr>
        <p:spPr>
          <a:xfrm xmlns:a="http://schemas.openxmlformats.org/drawingml/2006/main">
            <a:off x="895350" y="2114550"/>
            <a:ext cx="247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257653"/>
                </a:solidFill>
                <a:latin typeface="Arial"/>
                <a:ea typeface="Arial"/>
                <a:cs typeface="Arial"/>
              </a:defRPr>
            </a:pPr>
            <a:r>
              <a:rPr sz="1125" b="1">
                <a:solidFill>
                  <a:srgbClr val="257653"/>
                </a:solidFill>
                <a:latin typeface="Arial"/>
                <a:ea typeface="Arial"/>
                <a:cs typeface="Arial"/>
              </a:rPr>
              <a:t>SETU HANDLES</a:t>
            </a:r>
          </a:p>
        </p:txBody>
      </p:sp>
      <p:sp>
        <p:nvSpPr>
          <p:cNvPr id="8" name="">
            <a:extLst xmlns:a="http://schemas.openxmlformats.org/drawingml/2006/main">
              <a:ext uri="{FF2B5EF4-FFF2-40B4-BE49-F238E27FC236}">
                <a16:creationId xmlns:a16="http://schemas.microsoft.com/office/drawing/2014/main" id="{E8291396-7727-4D8F-BB78-874A731912B9}"/>
              </a:ext>
            </a:extLst>
          </p:cNvPr>
          <p:cNvSpPr>
            <a:spLocks xmlns:a="http://schemas.openxmlformats.org/drawingml/2006/main" noGrp="1"/>
          </p:cNvSpPr>
          <p:nvPr/>
        </p:nvSpPr>
        <p:spPr>
          <a:xfrm xmlns:a="http://schemas.openxmlformats.org/drawingml/2006/main">
            <a:off x="895350" y="2571750"/>
            <a:ext cx="5857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14300">
              <a:lnSpc>
                <a:spcPct val="108000"/>
              </a:lnSpc>
              <a:spcAft>
                <a:spcPts val="1300"/>
              </a:spcAft>
              <a:buNone/>
              <a:defRPr sz="1875">
                <a:solidFill>
                  <a:srgbClr val="172A33"/>
                </a:solidFill>
                <a:latin typeface="Arial"/>
                <a:ea typeface="Arial"/>
                <a:cs typeface="Arial"/>
              </a:defRPr>
            </a:pPr>
            <a:r>
              <a:rPr sz="1875">
                <a:solidFill>
                  <a:srgbClr val="172A33"/>
                </a:solidFill>
                <a:latin typeface="Arial"/>
                <a:ea typeface="Arial"/>
                <a:cs typeface="Arial"/>
              </a:rPr>
              <a:t>Read investment, bank, and insurance PDFs</a:t>
            </a:r>
          </a:p>
          <a:p xmlns:a="http://schemas.openxmlformats.org/drawingml/2006/main">
            <a:pPr marL="241300" indent="-114300">
              <a:lnSpc>
                <a:spcPct val="108000"/>
              </a:lnSpc>
              <a:spcAft>
                <a:spcPts val="1300"/>
              </a:spcAft>
              <a:buNone/>
              <a:defRPr sz="1875">
                <a:solidFill>
                  <a:srgbClr val="172A33"/>
                </a:solidFill>
                <a:latin typeface="Arial"/>
                <a:ea typeface="Arial"/>
                <a:cs typeface="Arial"/>
              </a:defRPr>
            </a:pPr>
            <a:r>
              <a:rPr sz="1875">
                <a:solidFill>
                  <a:srgbClr val="172A33"/>
                </a:solidFill>
                <a:latin typeface="Arial"/>
                <a:ea typeface="Arial"/>
                <a:cs typeface="Arial"/>
              </a:rPr>
              <a:t>Normalize supported USD and INR values</a:t>
            </a:r>
          </a:p>
          <a:p xmlns:a="http://schemas.openxmlformats.org/drawingml/2006/main">
            <a:pPr marL="241300" indent="-114300">
              <a:lnSpc>
                <a:spcPct val="108000"/>
              </a:lnSpc>
              <a:spcAft>
                <a:spcPts val="1300"/>
              </a:spcAft>
              <a:buNone/>
              <a:defRPr sz="1875">
                <a:solidFill>
                  <a:srgbClr val="172A33"/>
                </a:solidFill>
                <a:latin typeface="Arial"/>
                <a:ea typeface="Arial"/>
                <a:cs typeface="Arial"/>
              </a:defRPr>
            </a:pPr>
            <a:r>
              <a:rPr sz="1875">
                <a:solidFill>
                  <a:srgbClr val="172A33"/>
                </a:solidFill>
                <a:latin typeface="Arial"/>
                <a:ea typeface="Arial"/>
                <a:cs typeface="Arial"/>
              </a:rPr>
              <a:t>Calculate net worth, ROI, allocation, and risk</a:t>
            </a:r>
          </a:p>
          <a:p xmlns:a="http://schemas.openxmlformats.org/drawingml/2006/main">
            <a:pPr marL="241300" indent="-114300">
              <a:lnSpc>
                <a:spcPct val="108000"/>
              </a:lnSpc>
              <a:spcAft>
                <a:spcPts val="1300"/>
              </a:spcAft>
              <a:buNone/>
              <a:defRPr sz="1875">
                <a:solidFill>
                  <a:srgbClr val="172A33"/>
                </a:solidFill>
                <a:latin typeface="Arial"/>
                <a:ea typeface="Arial"/>
                <a:cs typeface="Arial"/>
              </a:defRPr>
            </a:pPr>
            <a:r>
              <a:rPr sz="1875">
                <a:solidFill>
                  <a:srgbClr val="172A33"/>
                </a:solidFill>
                <a:latin typeface="Arial"/>
                <a:ea typeface="Arial"/>
                <a:cs typeface="Arial"/>
              </a:rPr>
              <a:t>Show provenance and missing evidence</a:t>
            </a:r>
          </a:p>
          <a:p xmlns:a="http://schemas.openxmlformats.org/drawingml/2006/main">
            <a:pPr marL="241300" indent="-114300">
              <a:lnSpc>
                <a:spcPct val="108000"/>
              </a:lnSpc>
              <a:spcAft>
                <a:spcPts val="1300"/>
              </a:spcAft>
              <a:buNone/>
              <a:defRPr sz="1875">
                <a:solidFill>
                  <a:srgbClr val="172A33"/>
                </a:solidFill>
                <a:latin typeface="Arial"/>
                <a:ea typeface="Arial"/>
                <a:cs typeface="Arial"/>
              </a:defRPr>
            </a:pPr>
            <a:r>
              <a:rPr sz="1875">
                <a:solidFill>
                  <a:srgbClr val="172A33"/>
                </a:solidFill>
                <a:latin typeface="Arial"/>
                <a:ea typeface="Arial"/>
                <a:cs typeface="Arial"/>
              </a:rPr>
              <a:t>Pause for review when evidence conflicts</a:t>
            </a:r>
          </a:p>
        </p:txBody>
      </p:sp>
      <p:sp>
        <p:nvSpPr>
          <p:cNvPr id="9" name="">
            <a:extLst xmlns:a="http://schemas.openxmlformats.org/drawingml/2006/main">
              <a:ext uri="{FF2B5EF4-FFF2-40B4-BE49-F238E27FC236}">
                <a16:creationId xmlns:a16="http://schemas.microsoft.com/office/drawing/2014/main" id="{BEF4630B-3F0A-4808-B340-939F3610B576}"/>
              </a:ext>
            </a:extLst>
          </p:cNvPr>
          <p:cNvSpPr>
            <a:spLocks xmlns:a="http://schemas.openxmlformats.org/drawingml/2006/main" noGrp="1"/>
          </p:cNvSpPr>
          <p:nvPr/>
        </p:nvSpPr>
        <p:spPr>
          <a:xfrm xmlns:a="http://schemas.openxmlformats.org/drawingml/2006/main">
            <a:off x="8020050" y="2114550"/>
            <a:ext cx="304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C76032"/>
                </a:solidFill>
                <a:latin typeface="Arial"/>
                <a:ea typeface="Arial"/>
                <a:cs typeface="Arial"/>
              </a:defRPr>
            </a:pPr>
            <a:r>
              <a:rPr sz="1125" b="1">
                <a:solidFill>
                  <a:srgbClr val="C76032"/>
                </a:solidFill>
                <a:latin typeface="Arial"/>
                <a:ea typeface="Arial"/>
                <a:cs typeface="Arial"/>
              </a:rPr>
              <a:t>OUTSIDE THE BOUNDARY</a:t>
            </a:r>
          </a:p>
        </p:txBody>
      </p:sp>
      <p:sp>
        <p:nvSpPr>
          <p:cNvPr id="10" name="">
            <a:extLst xmlns:a="http://schemas.openxmlformats.org/drawingml/2006/main">
              <a:ext uri="{FF2B5EF4-FFF2-40B4-BE49-F238E27FC236}">
                <a16:creationId xmlns:a16="http://schemas.microsoft.com/office/drawing/2014/main" id="{18DB514C-40AC-4A36-9418-B8E1B81CA52C}"/>
              </a:ext>
            </a:extLst>
          </p:cNvPr>
          <p:cNvSpPr>
            <a:spLocks xmlns:a="http://schemas.openxmlformats.org/drawingml/2006/main" noGrp="1"/>
          </p:cNvSpPr>
          <p:nvPr/>
        </p:nvSpPr>
        <p:spPr>
          <a:xfrm xmlns:a="http://schemas.openxmlformats.org/drawingml/2006/main">
            <a:off x="8020050" y="2571750"/>
            <a:ext cx="3048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14300">
              <a:lnSpc>
                <a:spcPct val="108000"/>
              </a:lnSpc>
              <a:spcAft>
                <a:spcPts val="1400"/>
              </a:spcAft>
              <a:buNone/>
              <a:defRPr sz="1875">
                <a:solidFill>
                  <a:srgbClr val="FFFFFF"/>
                </a:solidFill>
                <a:latin typeface="Arial"/>
                <a:ea typeface="Arial"/>
                <a:cs typeface="Arial"/>
              </a:defRPr>
            </a:pPr>
            <a:r>
              <a:rPr sz="1875">
                <a:solidFill>
                  <a:srgbClr val="FFFFFF"/>
                </a:solidFill>
                <a:latin typeface="Arial"/>
                <a:ea typeface="Arial"/>
                <a:cs typeface="Arial"/>
              </a:rPr>
              <a:t>No trading</a:t>
            </a:r>
          </a:p>
          <a:p xmlns:a="http://schemas.openxmlformats.org/drawingml/2006/main">
            <a:pPr marL="241300" indent="-114300">
              <a:lnSpc>
                <a:spcPct val="108000"/>
              </a:lnSpc>
              <a:spcAft>
                <a:spcPts val="1400"/>
              </a:spcAft>
              <a:buNone/>
              <a:defRPr sz="1875">
                <a:solidFill>
                  <a:srgbClr val="FFFFFF"/>
                </a:solidFill>
                <a:latin typeface="Arial"/>
                <a:ea typeface="Arial"/>
                <a:cs typeface="Arial"/>
              </a:defRPr>
            </a:pPr>
            <a:r>
              <a:rPr sz="1875">
                <a:solidFill>
                  <a:srgbClr val="FFFFFF"/>
                </a:solidFill>
                <a:latin typeface="Arial"/>
                <a:ea typeface="Arial"/>
                <a:cs typeface="Arial"/>
              </a:rPr>
              <a:t>No money movement</a:t>
            </a:r>
          </a:p>
          <a:p xmlns:a="http://schemas.openxmlformats.org/drawingml/2006/main">
            <a:pPr marL="241300" indent="-114300">
              <a:lnSpc>
                <a:spcPct val="108000"/>
              </a:lnSpc>
              <a:spcAft>
                <a:spcPts val="1400"/>
              </a:spcAft>
              <a:buNone/>
              <a:defRPr sz="1875">
                <a:solidFill>
                  <a:srgbClr val="FFFFFF"/>
                </a:solidFill>
                <a:latin typeface="Arial"/>
                <a:ea typeface="Arial"/>
                <a:cs typeface="Arial"/>
              </a:defRPr>
            </a:pPr>
            <a:r>
              <a:rPr sz="1875">
                <a:solidFill>
                  <a:srgbClr val="FFFFFF"/>
                </a:solidFill>
                <a:latin typeface="Arial"/>
                <a:ea typeface="Arial"/>
                <a:cs typeface="Arial"/>
              </a:rPr>
              <a:t>No market prediction</a:t>
            </a:r>
          </a:p>
          <a:p xmlns:a="http://schemas.openxmlformats.org/drawingml/2006/main">
            <a:pPr marL="241300" indent="-114300">
              <a:lnSpc>
                <a:spcPct val="108000"/>
              </a:lnSpc>
              <a:spcAft>
                <a:spcPts val="1400"/>
              </a:spcAft>
              <a:buNone/>
              <a:defRPr sz="1875">
                <a:solidFill>
                  <a:srgbClr val="FFFFFF"/>
                </a:solidFill>
                <a:latin typeface="Arial"/>
                <a:ea typeface="Arial"/>
                <a:cs typeface="Arial"/>
              </a:defRPr>
            </a:pPr>
            <a:r>
              <a:rPr sz="1875">
                <a:solidFill>
                  <a:srgbClr val="FFFFFF"/>
                </a:solidFill>
                <a:latin typeface="Arial"/>
                <a:ea typeface="Arial"/>
                <a:cs typeface="Arial"/>
              </a:rPr>
              <a:t>No tax advice</a:t>
            </a:r>
          </a:p>
          <a:p xmlns:a="http://schemas.openxmlformats.org/drawingml/2006/main">
            <a:pPr marL="241300" indent="-114300">
              <a:lnSpc>
                <a:spcPct val="108000"/>
              </a:lnSpc>
              <a:spcAft>
                <a:spcPts val="1400"/>
              </a:spcAft>
              <a:buNone/>
              <a:defRPr sz="1875">
                <a:solidFill>
                  <a:srgbClr val="FFFFFF"/>
                </a:solidFill>
                <a:latin typeface="Arial"/>
                <a:ea typeface="Arial"/>
                <a:cs typeface="Arial"/>
              </a:defRPr>
            </a:pPr>
            <a:r>
              <a:rPr sz="1875">
                <a:solidFill>
                  <a:srgbClr val="FFFFFF"/>
                </a:solidFill>
                <a:latin typeface="Arial"/>
                <a:ea typeface="Arial"/>
                <a:cs typeface="Arial"/>
              </a:rPr>
              <a:t>No guessed valuation</a:t>
            </a:r>
          </a:p>
        </p:txBody>
      </p:sp>
      <p:sp>
        <p:nvSpPr>
          <p:cNvPr id="11" name="">
            <a:extLst xmlns:a="http://schemas.openxmlformats.org/drawingml/2006/main">
              <a:ext uri="{FF2B5EF4-FFF2-40B4-BE49-F238E27FC236}">
                <a16:creationId xmlns:a16="http://schemas.microsoft.com/office/drawing/2014/main" id="{EF98C352-D6B9-4F18-B2C7-4BC8CD19DAC6}"/>
              </a:ext>
            </a:extLst>
          </p:cNvPr>
          <p:cNvSpPr>
            <a:spLocks xmlns:a="http://schemas.openxmlformats.org/drawingml/2006/main" noGrp="1"/>
          </p:cNvSpPr>
          <p:nvPr/>
        </p:nvSpPr>
        <p:spPr>
          <a:xfrm xmlns:a="http://schemas.openxmlformats.org/drawingml/2006/main">
            <a:off x="8020050" y="52863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D7E4E8"/>
                </a:solidFill>
                <a:latin typeface="Arial"/>
                <a:ea typeface="Arial"/>
                <a:cs typeface="Arial"/>
              </a:defRPr>
            </a:pPr>
            <a:r>
              <a:rPr sz="1350" b="0">
                <a:solidFill>
                  <a:srgbClr val="D7E4E8"/>
                </a:solidFill>
                <a:latin typeface="Arial"/>
                <a:ea typeface="Arial"/>
                <a:cs typeface="Arial"/>
              </a:rPr>
              <a:t>The result is decision support, not autonomous financial advice.</a:t>
            </a:r>
          </a:p>
        </p:txBody>
      </p:sp>
      <p:sp>
        <p:nvSpPr>
          <p:cNvPr id="12" name="">
            <a:extLst xmlns:a="http://schemas.openxmlformats.org/drawingml/2006/main">
              <a:ext uri="{FF2B5EF4-FFF2-40B4-BE49-F238E27FC236}">
                <a16:creationId xmlns:a16="http://schemas.microsoft.com/office/drawing/2014/main" id="{9EE9C1BB-D53B-447C-B089-94631953582B}"/>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F9E408-F7B5-4533-8578-8D6E4698661A}"/>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CMU Agentic AI Capstone</a:t>
            </a:r>
          </a:p>
        </p:txBody>
      </p:sp>
    </p:spTree>
    <p:extLst>
      <p:ext uri="{BB962C8B-B14F-4D97-AF65-F5344CB8AC3E}">
        <p14:creationId xmlns:p14="http://schemas.microsoft.com/office/powerpoint/2010/main" val="1865997864"/>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6967663-3CDD-4436-819C-30F30D06E5D7}"/>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00D413-8094-4E6A-AA7A-D98535728289}"/>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Models interpret, code verifies, humans decide</a:t>
            </a:r>
          </a:p>
        </p:txBody>
      </p:sp>
      <p:sp>
        <p:nvSpPr>
          <p:cNvPr id="3" name="">
            <a:extLst xmlns:a="http://schemas.openxmlformats.org/drawingml/2006/main">
              <a:ext uri="{FF2B5EF4-FFF2-40B4-BE49-F238E27FC236}">
                <a16:creationId xmlns:a16="http://schemas.microsoft.com/office/drawing/2014/main" id="{19D3622F-4E94-4DE9-97AA-D7B1B243C76E}"/>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Two bounded paths share one deterministic ledger</a:t>
            </a:r>
          </a:p>
        </p:txBody>
      </p:sp>
      <p:sp>
        <p:nvSpPr>
          <p:cNvPr id="4" name="">
            <a:extLst xmlns:a="http://schemas.openxmlformats.org/drawingml/2006/main">
              <a:ext uri="{FF2B5EF4-FFF2-40B4-BE49-F238E27FC236}">
                <a16:creationId xmlns:a16="http://schemas.microsoft.com/office/drawing/2014/main" id="{2D9ED9B5-D7B7-4DEB-B1E4-13AE723DA755}"/>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F9A009F-5C33-4777-910D-BCE8A6957550}"/>
              </a:ext>
            </a:extLst>
          </p:cNvPr>
          <p:cNvSpPr>
            <a:spLocks xmlns:a="http://schemas.openxmlformats.org/drawingml/2006/main" noGrp="1"/>
          </p:cNvSpPr>
          <p:nvPr/>
        </p:nvSpPr>
        <p:spPr>
          <a:xfrm xmlns:a="http://schemas.openxmlformats.org/drawingml/2006/main">
            <a:off x="609600" y="1676400"/>
            <a:ext cx="285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C76032"/>
                </a:solidFill>
                <a:latin typeface="Arial"/>
                <a:ea typeface="Arial"/>
                <a:cs typeface="Arial"/>
              </a:defRPr>
            </a:pPr>
            <a:r>
              <a:rPr sz="1125" b="1">
                <a:solidFill>
                  <a:srgbClr val="C76032"/>
                </a:solidFill>
                <a:latin typeface="Arial"/>
                <a:ea typeface="Arial"/>
                <a:cs typeface="Arial"/>
              </a:rPr>
              <a:t>LOCAL INGESTION GRAPH</a:t>
            </a:r>
          </a:p>
        </p:txBody>
      </p:sp>
      <p:sp>
        <p:nvSpPr>
          <p:cNvPr id="6" name="">
            <a:extLst xmlns:a="http://schemas.openxmlformats.org/drawingml/2006/main">
              <a:ext uri="{FF2B5EF4-FFF2-40B4-BE49-F238E27FC236}">
                <a16:creationId xmlns:a16="http://schemas.microsoft.com/office/drawing/2014/main" id="{E3D1E8E3-ACAB-4022-A34B-997AC521DD19}"/>
              </a:ext>
            </a:extLst>
          </p:cNvPr>
          <p:cNvSpPr>
            <a:spLocks xmlns:a="http://schemas.openxmlformats.org/drawingml/2006/main" noGrp="1"/>
          </p:cNvSpPr>
          <p:nvPr/>
        </p:nvSpPr>
        <p:spPr>
          <a:xfrm xmlns:a="http://schemas.openxmlformats.org/drawingml/2006/main">
            <a:off x="590550" y="2076450"/>
            <a:ext cx="12001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PDF</a:t>
            </a:r>
          </a:p>
        </p:txBody>
      </p:sp>
      <p:sp>
        <p:nvSpPr>
          <p:cNvPr id="7" name="">
            <a:extLst xmlns:a="http://schemas.openxmlformats.org/drawingml/2006/main">
              <a:ext uri="{FF2B5EF4-FFF2-40B4-BE49-F238E27FC236}">
                <a16:creationId xmlns:a16="http://schemas.microsoft.com/office/drawing/2014/main" id="{EC4BDA5F-9A7E-4D11-A268-C5DE0619D7B4}"/>
              </a:ext>
            </a:extLst>
          </p:cNvPr>
          <p:cNvSpPr>
            <a:spLocks xmlns:a="http://schemas.openxmlformats.org/drawingml/2006/main" noGrp="1"/>
          </p:cNvSpPr>
          <p:nvPr/>
        </p:nvSpPr>
        <p:spPr>
          <a:xfrm xmlns:a="http://schemas.openxmlformats.org/drawingml/2006/main">
            <a:off x="590550" y="283845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embedded text</a:t>
            </a:r>
          </a:p>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or OCR fallback</a:t>
            </a:r>
          </a:p>
        </p:txBody>
      </p:sp>
      <p:sp>
        <p:nvSpPr>
          <p:cNvPr id="8" name="">
            <a:extLst xmlns:a="http://schemas.openxmlformats.org/drawingml/2006/main">
              <a:ext uri="{FF2B5EF4-FFF2-40B4-BE49-F238E27FC236}">
                <a16:creationId xmlns:a16="http://schemas.microsoft.com/office/drawing/2014/main" id="{393094C8-8CB6-4D04-B3DF-8B44C51C6091}"/>
              </a:ext>
            </a:extLst>
          </p:cNvPr>
          <p:cNvSpPr>
            <a:spLocks xmlns:a="http://schemas.openxmlformats.org/drawingml/2006/main" noGrp="1"/>
          </p:cNvSpPr>
          <p:nvPr/>
        </p:nvSpPr>
        <p:spPr>
          <a:xfrm xmlns:a="http://schemas.openxmlformats.org/drawingml/2006/main">
            <a:off x="2057400" y="2076450"/>
            <a:ext cx="1428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Local extraction</a:t>
            </a:r>
          </a:p>
        </p:txBody>
      </p:sp>
      <p:sp>
        <p:nvSpPr>
          <p:cNvPr id="9" name="">
            <a:extLst xmlns:a="http://schemas.openxmlformats.org/drawingml/2006/main">
              <a:ext uri="{FF2B5EF4-FFF2-40B4-BE49-F238E27FC236}">
                <a16:creationId xmlns:a16="http://schemas.microsoft.com/office/drawing/2014/main" id="{48056BDF-10B1-48F2-A0FE-554525F96530}"/>
              </a:ext>
            </a:extLst>
          </p:cNvPr>
          <p:cNvSpPr>
            <a:spLocks xmlns:a="http://schemas.openxmlformats.org/drawingml/2006/main" noGrp="1"/>
          </p:cNvSpPr>
          <p:nvPr/>
        </p:nvSpPr>
        <p:spPr>
          <a:xfrm xmlns:a="http://schemas.openxmlformats.org/drawingml/2006/main">
            <a:off x="2057400" y="28384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parser or Ollama</a:t>
            </a:r>
          </a:p>
        </p:txBody>
      </p:sp>
      <p:sp>
        <p:nvSpPr>
          <p:cNvPr id="10" name="">
            <a:extLst xmlns:a="http://schemas.openxmlformats.org/drawingml/2006/main">
              <a:ext uri="{FF2B5EF4-FFF2-40B4-BE49-F238E27FC236}">
                <a16:creationId xmlns:a16="http://schemas.microsoft.com/office/drawing/2014/main" id="{18AB4E56-D0A8-4BD0-BF01-198075835344}"/>
              </a:ext>
            </a:extLst>
          </p:cNvPr>
          <p:cNvSpPr>
            <a:spLocks xmlns:a="http://schemas.openxmlformats.org/drawingml/2006/main" noGrp="1"/>
          </p:cNvSpPr>
          <p:nvPr/>
        </p:nvSpPr>
        <p:spPr>
          <a:xfrm xmlns:a="http://schemas.openxmlformats.org/drawingml/2006/main">
            <a:off x="3752850" y="2076450"/>
            <a:ext cx="1428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Typed state</a:t>
            </a:r>
          </a:p>
        </p:txBody>
      </p:sp>
      <p:sp>
        <p:nvSpPr>
          <p:cNvPr id="11" name="">
            <a:extLst xmlns:a="http://schemas.openxmlformats.org/drawingml/2006/main">
              <a:ext uri="{FF2B5EF4-FFF2-40B4-BE49-F238E27FC236}">
                <a16:creationId xmlns:a16="http://schemas.microsoft.com/office/drawing/2014/main" id="{705DFCAF-51AF-4C62-974D-A1419C42B318}"/>
              </a:ext>
            </a:extLst>
          </p:cNvPr>
          <p:cNvSpPr>
            <a:spLocks xmlns:a="http://schemas.openxmlformats.org/drawingml/2006/main" noGrp="1"/>
          </p:cNvSpPr>
          <p:nvPr/>
        </p:nvSpPr>
        <p:spPr>
          <a:xfrm xmlns:a="http://schemas.openxmlformats.org/drawingml/2006/main">
            <a:off x="3752850" y="28384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LangGraph</a:t>
            </a:r>
          </a:p>
        </p:txBody>
      </p:sp>
      <p:sp>
        <p:nvSpPr>
          <p:cNvPr id="12" name="">
            <a:extLst xmlns:a="http://schemas.openxmlformats.org/drawingml/2006/main">
              <a:ext uri="{FF2B5EF4-FFF2-40B4-BE49-F238E27FC236}">
                <a16:creationId xmlns:a16="http://schemas.microsoft.com/office/drawing/2014/main" id="{73069A66-D672-4923-A91B-F83FE4B6B3E2}"/>
              </a:ext>
            </a:extLst>
          </p:cNvPr>
          <p:cNvSpPr>
            <a:spLocks xmlns:a="http://schemas.openxmlformats.org/drawingml/2006/main" noGrp="1"/>
          </p:cNvSpPr>
          <p:nvPr/>
        </p:nvSpPr>
        <p:spPr>
          <a:xfrm xmlns:a="http://schemas.openxmlformats.org/drawingml/2006/main">
            <a:off x="5448300" y="2076450"/>
            <a:ext cx="1428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Reconcile</a:t>
            </a:r>
          </a:p>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independent totals</a:t>
            </a:r>
          </a:p>
        </p:txBody>
      </p:sp>
      <p:sp>
        <p:nvSpPr>
          <p:cNvPr id="13" name="">
            <a:extLst xmlns:a="http://schemas.openxmlformats.org/drawingml/2006/main">
              <a:ext uri="{FF2B5EF4-FFF2-40B4-BE49-F238E27FC236}">
                <a16:creationId xmlns:a16="http://schemas.microsoft.com/office/drawing/2014/main" id="{6E6080B0-AE07-4A0A-9E90-21A837448C94}"/>
              </a:ext>
            </a:extLst>
          </p:cNvPr>
          <p:cNvSpPr>
            <a:spLocks xmlns:a="http://schemas.openxmlformats.org/drawingml/2006/main" noGrp="1"/>
          </p:cNvSpPr>
          <p:nvPr/>
        </p:nvSpPr>
        <p:spPr>
          <a:xfrm xmlns:a="http://schemas.openxmlformats.org/drawingml/2006/main">
            <a:off x="7143750" y="2076450"/>
            <a:ext cx="1428750" cy="666750"/>
          </a:xfrm>
          <a:prstGeom xmlns:a="http://schemas.openxmlformats.org/drawingml/2006/main" prst="roundRect">
            <a:avLst>
              <a:gd name="adj" fmla="val 17143"/>
            </a:avLst>
          </a:prstGeom>
          <a:solidFill xmlns:a="http://schemas.openxmlformats.org/drawingml/2006/main">
            <a:srgbClr val="123F56"/>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FFFFFF"/>
                </a:solidFill>
                <a:latin typeface="Arial"/>
                <a:ea typeface="Arial"/>
                <a:cs typeface="Arial"/>
              </a:defRPr>
            </a:pPr>
            <a:r>
              <a:rPr sz="1425" b="1">
                <a:solidFill>
                  <a:srgbClr val="FFFFFF"/>
                </a:solidFill>
                <a:latin typeface="Arial"/>
                <a:ea typeface="Arial"/>
                <a:cs typeface="Arial"/>
              </a:rPr>
              <a:t>SQLite ledger</a:t>
            </a:r>
          </a:p>
        </p:txBody>
      </p:sp>
      <p:sp>
        <p:nvSpPr>
          <p:cNvPr id="14" name="">
            <a:extLst xmlns:a="http://schemas.openxmlformats.org/drawingml/2006/main">
              <a:ext uri="{FF2B5EF4-FFF2-40B4-BE49-F238E27FC236}">
                <a16:creationId xmlns:a16="http://schemas.microsoft.com/office/drawing/2014/main" id="{9D2FF08A-354E-4243-8B48-7954D3F363EE}"/>
              </a:ext>
            </a:extLst>
          </p:cNvPr>
          <p:cNvSpPr>
            <a:spLocks xmlns:a="http://schemas.openxmlformats.org/drawingml/2006/main" noGrp="1"/>
          </p:cNvSpPr>
          <p:nvPr/>
        </p:nvSpPr>
        <p:spPr>
          <a:xfrm xmlns:a="http://schemas.openxmlformats.org/drawingml/2006/main">
            <a:off x="7143750" y="28384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idempotent records</a:t>
            </a:r>
          </a:p>
        </p:txBody>
      </p:sp>
      <p:sp>
        <p:nvSpPr>
          <p:cNvPr id="15" name="">
            <a:extLst xmlns:a="http://schemas.openxmlformats.org/drawingml/2006/main">
              <a:ext uri="{FF2B5EF4-FFF2-40B4-BE49-F238E27FC236}">
                <a16:creationId xmlns:a16="http://schemas.microsoft.com/office/drawing/2014/main" id="{69C165E3-61AA-4B53-B295-C9C987090EFB}"/>
              </a:ext>
            </a:extLst>
          </p:cNvPr>
          <p:cNvSpPr>
            <a:spLocks xmlns:a="http://schemas.openxmlformats.org/drawingml/2006/main" noGrp="1"/>
          </p:cNvSpPr>
          <p:nvPr/>
        </p:nvSpPr>
        <p:spPr>
          <a:xfrm xmlns:a="http://schemas.openxmlformats.org/drawingml/2006/main">
            <a:off x="8839200" y="2076450"/>
            <a:ext cx="1428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Exact tools</a:t>
            </a:r>
          </a:p>
        </p:txBody>
      </p:sp>
      <p:sp>
        <p:nvSpPr>
          <p:cNvPr id="16" name="">
            <a:extLst xmlns:a="http://schemas.openxmlformats.org/drawingml/2006/main">
              <a:ext uri="{FF2B5EF4-FFF2-40B4-BE49-F238E27FC236}">
                <a16:creationId xmlns:a16="http://schemas.microsoft.com/office/drawing/2014/main" id="{61EB2B90-6B8E-4A39-9600-F1406E750099}"/>
              </a:ext>
            </a:extLst>
          </p:cNvPr>
          <p:cNvSpPr>
            <a:spLocks xmlns:a="http://schemas.openxmlformats.org/drawingml/2006/main" noGrp="1"/>
          </p:cNvSpPr>
          <p:nvPr/>
        </p:nvSpPr>
        <p:spPr>
          <a:xfrm xmlns:a="http://schemas.openxmlformats.org/drawingml/2006/main">
            <a:off x="8839200" y="28384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Decimal math</a:t>
            </a:r>
          </a:p>
        </p:txBody>
      </p:sp>
      <p:sp>
        <p:nvSpPr>
          <p:cNvPr id="17" name="">
            <a:extLst xmlns:a="http://schemas.openxmlformats.org/drawingml/2006/main">
              <a:ext uri="{FF2B5EF4-FFF2-40B4-BE49-F238E27FC236}">
                <a16:creationId xmlns:a16="http://schemas.microsoft.com/office/drawing/2014/main" id="{FBF19D69-30E5-403E-9C03-C36AA03C74AE}"/>
              </a:ext>
            </a:extLst>
          </p:cNvPr>
          <p:cNvSpPr>
            <a:spLocks xmlns:a="http://schemas.openxmlformats.org/drawingml/2006/main" noGrp="1"/>
          </p:cNvSpPr>
          <p:nvPr/>
        </p:nvSpPr>
        <p:spPr>
          <a:xfrm xmlns:a="http://schemas.openxmlformats.org/drawingml/2006/main">
            <a:off x="10534650" y="2076450"/>
            <a:ext cx="14287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Dashboard</a:t>
            </a:r>
          </a:p>
        </p:txBody>
      </p:sp>
      <p:sp>
        <p:nvSpPr>
          <p:cNvPr id="18" name="">
            <a:extLst xmlns:a="http://schemas.openxmlformats.org/drawingml/2006/main">
              <a:ext uri="{FF2B5EF4-FFF2-40B4-BE49-F238E27FC236}">
                <a16:creationId xmlns:a16="http://schemas.microsoft.com/office/drawing/2014/main" id="{5B227E10-20BD-4964-8A3E-90B6084102D3}"/>
              </a:ext>
            </a:extLst>
          </p:cNvPr>
          <p:cNvSpPr>
            <a:spLocks xmlns:a="http://schemas.openxmlformats.org/drawingml/2006/main" noGrp="1"/>
          </p:cNvSpPr>
          <p:nvPr/>
        </p:nvSpPr>
        <p:spPr>
          <a:xfrm xmlns:a="http://schemas.openxmlformats.org/drawingml/2006/main">
            <a:off x="10534650" y="28384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buNone/>
              <a:defRPr sz="1050" b="0">
                <a:solidFill>
                  <a:srgbClr val="657377"/>
                </a:solidFill>
                <a:latin typeface="Arial"/>
                <a:ea typeface="Arial"/>
                <a:cs typeface="Arial"/>
              </a:defRPr>
            </a:pPr>
            <a:r>
              <a:rPr sz="1050" b="0">
                <a:solidFill>
                  <a:srgbClr val="657377"/>
                </a:solidFill>
                <a:latin typeface="Arial"/>
                <a:ea typeface="Arial"/>
                <a:cs typeface="Arial"/>
              </a:rPr>
              <a:t>evidence and control</a:t>
            </a:r>
          </a:p>
        </p:txBody>
      </p:sp>
      <p:cxnSp>
        <p:nvCxnSpPr>
          <p:cNvPr id="58" name=""/>
          <p:cNvCxnSpPr>
            <a:stCxn xmlns:a="http://schemas.openxmlformats.org/drawingml/2006/main" id="6" idx="3"/>
            <a:endCxn xmlns:a="http://schemas.openxmlformats.org/drawingml/2006/main" id="8" idx="1"/>
          </p:cNvCxnSpPr>
          <p:nvPr/>
        </p:nvCxnSpPr>
        <p:spPr>
          <a:xfrm xmlns:a="http://schemas.openxmlformats.org/drawingml/2006/main">
            <a:off x="1790700" y="2409825"/>
            <a:ext cx="266700" cy="0"/>
          </a:xfrm>
          <a:prstGeom xmlns:a="http://schemas.openxmlformats.org/drawingml/2006/main" prst="straightConnector1">
            <a:avLst/>
          </a:prstGeom>
          <a:ln xmlns:a="http://schemas.openxmlformats.org/drawingml/2006/main" w="19050">
            <a:solidFill>
              <a:srgbClr val="397DA0"/>
            </a:solidFill>
            <a:prstDash val="solid"/>
            <a:tailEnd type="triangle" w="sm" len="sm"/>
          </a:ln>
        </p:spPr>
      </p:cxnSp>
      <p:cxnSp>
        <p:nvCxnSpPr>
          <p:cNvPr id="59" name=""/>
          <p:cNvCxnSpPr>
            <a:stCxn xmlns:a="http://schemas.openxmlformats.org/drawingml/2006/main" id="8" idx="3"/>
            <a:endCxn xmlns:a="http://schemas.openxmlformats.org/drawingml/2006/main" id="10" idx="1"/>
          </p:cNvCxnSpPr>
          <p:nvPr/>
        </p:nvCxnSpPr>
        <p:spPr>
          <a:xfrm xmlns:a="http://schemas.openxmlformats.org/drawingml/2006/main">
            <a:off x="3486150" y="2409825"/>
            <a:ext cx="266700" cy="0"/>
          </a:xfrm>
          <a:prstGeom xmlns:a="http://schemas.openxmlformats.org/drawingml/2006/main" prst="straightConnector1">
            <a:avLst/>
          </a:prstGeom>
          <a:ln xmlns:a="http://schemas.openxmlformats.org/drawingml/2006/main" w="19050">
            <a:solidFill>
              <a:srgbClr val="397DA0"/>
            </a:solidFill>
            <a:prstDash val="solid"/>
            <a:tailEnd type="triangle" w="sm" len="sm"/>
          </a:ln>
        </p:spPr>
      </p:cxnSp>
      <p:cxnSp>
        <p:nvCxnSpPr>
          <p:cNvPr id="60" name=""/>
          <p:cNvCxnSpPr>
            <a:stCxn xmlns:a="http://schemas.openxmlformats.org/drawingml/2006/main" id="10" idx="3"/>
            <a:endCxn xmlns:a="http://schemas.openxmlformats.org/drawingml/2006/main" id="12" idx="1"/>
          </p:cNvCxnSpPr>
          <p:nvPr/>
        </p:nvCxnSpPr>
        <p:spPr>
          <a:xfrm xmlns:a="http://schemas.openxmlformats.org/drawingml/2006/main">
            <a:off x="5181600" y="2409825"/>
            <a:ext cx="266700" cy="0"/>
          </a:xfrm>
          <a:prstGeom xmlns:a="http://schemas.openxmlformats.org/drawingml/2006/main" prst="straightConnector1">
            <a:avLst/>
          </a:prstGeom>
          <a:ln xmlns:a="http://schemas.openxmlformats.org/drawingml/2006/main" w="19050">
            <a:solidFill>
              <a:srgbClr val="397DA0"/>
            </a:solidFill>
            <a:prstDash val="solid"/>
            <a:tailEnd type="triangle" w="sm" len="sm"/>
          </a:ln>
        </p:spPr>
      </p:cxnSp>
      <p:cxnSp>
        <p:nvCxnSpPr>
          <p:cNvPr id="61" name=""/>
          <p:cNvCxnSpPr>
            <a:stCxn xmlns:a="http://schemas.openxmlformats.org/drawingml/2006/main" id="12" idx="3"/>
            <a:endCxn xmlns:a="http://schemas.openxmlformats.org/drawingml/2006/main" id="13" idx="1"/>
          </p:cNvCxnSpPr>
          <p:nvPr/>
        </p:nvCxnSpPr>
        <p:spPr>
          <a:xfrm xmlns:a="http://schemas.openxmlformats.org/drawingml/2006/main">
            <a:off x="6877050" y="2409825"/>
            <a:ext cx="266700" cy="0"/>
          </a:xfrm>
          <a:prstGeom xmlns:a="http://schemas.openxmlformats.org/drawingml/2006/main" prst="straightConnector1">
            <a:avLst/>
          </a:prstGeom>
          <a:ln xmlns:a="http://schemas.openxmlformats.org/drawingml/2006/main" w="19050">
            <a:solidFill>
              <a:srgbClr val="397DA0"/>
            </a:solidFill>
            <a:prstDash val="solid"/>
            <a:tailEnd type="triangle" w="sm" len="sm"/>
          </a:ln>
        </p:spPr>
      </p:cxnSp>
      <p:cxnSp>
        <p:nvCxnSpPr>
          <p:cNvPr id="62" name=""/>
          <p:cNvCxnSpPr>
            <a:stCxn xmlns:a="http://schemas.openxmlformats.org/drawingml/2006/main" id="13" idx="3"/>
            <a:endCxn xmlns:a="http://schemas.openxmlformats.org/drawingml/2006/main" id="15" idx="1"/>
          </p:cNvCxnSpPr>
          <p:nvPr/>
        </p:nvCxnSpPr>
        <p:spPr>
          <a:xfrm xmlns:a="http://schemas.openxmlformats.org/drawingml/2006/main">
            <a:off x="8572500" y="2409825"/>
            <a:ext cx="266700" cy="0"/>
          </a:xfrm>
          <a:prstGeom xmlns:a="http://schemas.openxmlformats.org/drawingml/2006/main" prst="straightConnector1">
            <a:avLst/>
          </a:prstGeom>
          <a:ln xmlns:a="http://schemas.openxmlformats.org/drawingml/2006/main" w="19050">
            <a:solidFill>
              <a:srgbClr val="397DA0"/>
            </a:solidFill>
            <a:prstDash val="solid"/>
            <a:tailEnd type="triangle" w="sm" len="sm"/>
          </a:ln>
        </p:spPr>
      </p:cxnSp>
      <p:cxnSp>
        <p:nvCxnSpPr>
          <p:cNvPr id="63" name=""/>
          <p:cNvCxnSpPr>
            <a:stCxn xmlns:a="http://schemas.openxmlformats.org/drawingml/2006/main" id="15" idx="3"/>
            <a:endCxn xmlns:a="http://schemas.openxmlformats.org/drawingml/2006/main" id="17" idx="1"/>
          </p:cNvCxnSpPr>
          <p:nvPr/>
        </p:nvCxnSpPr>
        <p:spPr>
          <a:xfrm xmlns:a="http://schemas.openxmlformats.org/drawingml/2006/main">
            <a:off x="10267950" y="2409825"/>
            <a:ext cx="266700" cy="0"/>
          </a:xfrm>
          <a:prstGeom xmlns:a="http://schemas.openxmlformats.org/drawingml/2006/main" prst="straightConnector1">
            <a:avLst/>
          </a:prstGeom>
          <a:ln xmlns:a="http://schemas.openxmlformats.org/drawingml/2006/main" w="19050">
            <a:solidFill>
              <a:srgbClr val="397DA0"/>
            </a:solidFill>
            <a:prstDash val="solid"/>
            <a:tailEnd type="triangle" w="sm" len="sm"/>
          </a:ln>
        </p:spPr>
      </p:cxnSp>
      <p:sp>
        <p:nvSpPr>
          <p:cNvPr id="25" name="">
            <a:extLst xmlns:a="http://schemas.openxmlformats.org/drawingml/2006/main">
              <a:ext uri="{FF2B5EF4-FFF2-40B4-BE49-F238E27FC236}">
                <a16:creationId xmlns:a16="http://schemas.microsoft.com/office/drawing/2014/main" id="{C23EC70D-2523-48A9-9784-8D9701727A30}"/>
              </a:ext>
            </a:extLst>
          </p:cNvPr>
          <p:cNvSpPr>
            <a:spLocks xmlns:a="http://schemas.openxmlformats.org/drawingml/2006/main" noGrp="1"/>
          </p:cNvSpPr>
          <p:nvPr/>
        </p:nvSpPr>
        <p:spPr>
          <a:xfrm xmlns:a="http://schemas.openxmlformats.org/drawingml/2006/main">
            <a:off x="4953000" y="3486150"/>
            <a:ext cx="1676400" cy="552450"/>
          </a:xfrm>
          <a:prstGeom xmlns:a="http://schemas.openxmlformats.org/drawingml/2006/main" prst="roundRect">
            <a:avLst>
              <a:gd name="adj" fmla="val 24138"/>
            </a:avLst>
          </a:prstGeom>
          <a:solidFill xmlns:a="http://schemas.openxmlformats.org/drawingml/2006/main">
            <a:srgbClr val="F5E5DB"/>
          </a:solidFill>
          <a:ln xmlns:a="http://schemas.openxmlformats.org/drawingml/2006/main" w="9525">
            <a:solidFill>
              <a:srgbClr val="C76032"/>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C76032"/>
                </a:solidFill>
                <a:latin typeface="Arial"/>
                <a:ea typeface="Arial"/>
                <a:cs typeface="Arial"/>
              </a:defRPr>
            </a:pPr>
            <a:r>
              <a:rPr sz="1425" b="1">
                <a:solidFill>
                  <a:srgbClr val="C76032"/>
                </a:solidFill>
                <a:latin typeface="Arial"/>
                <a:ea typeface="Arial"/>
                <a:cs typeface="Arial"/>
              </a:rPr>
              <a:t>Human review</a:t>
            </a:r>
          </a:p>
        </p:txBody>
      </p:sp>
      <p:cxnSp>
        <p:nvCxnSpPr>
          <p:cNvPr id="65" name=""/>
          <p:cNvCxnSpPr>
            <a:stCxn xmlns:a="http://schemas.openxmlformats.org/drawingml/2006/main" id="12" idx="2"/>
            <a:endCxn xmlns:a="http://schemas.openxmlformats.org/drawingml/2006/main" id="25" idx="0"/>
          </p:cNvCxnSpPr>
          <p:nvPr/>
        </p:nvCxnSpPr>
        <p:spPr>
          <a:xfrm xmlns:a="http://schemas.openxmlformats.org/drawingml/2006/main" flipH="1">
            <a:off x="5791200" y="2743200"/>
            <a:ext cx="371475" cy="742950"/>
          </a:xfrm>
          <a:prstGeom xmlns:a="http://schemas.openxmlformats.org/drawingml/2006/main" prst="bentConnector4">
            <a:avLst>
              <a:gd name="adj1" fmla="val 0"/>
              <a:gd name="adj2" fmla="val 50000"/>
            </a:avLst>
          </a:prstGeom>
          <a:ln xmlns:a="http://schemas.openxmlformats.org/drawingml/2006/main" w="19050">
            <a:solidFill>
              <a:srgbClr val="C76032"/>
            </a:solidFill>
            <a:prstDash val="solid"/>
            <a:tailEnd type="triangle" w="sm" len="sm"/>
          </a:ln>
        </p:spPr>
      </p:cxnSp>
      <p:sp>
        <p:nvSpPr>
          <p:cNvPr id="27" name="">
            <a:extLst xmlns:a="http://schemas.openxmlformats.org/drawingml/2006/main">
              <a:ext uri="{FF2B5EF4-FFF2-40B4-BE49-F238E27FC236}">
                <a16:creationId xmlns:a16="http://schemas.microsoft.com/office/drawing/2014/main" id="{34546635-CE44-4145-9950-39E332FC0D7C}"/>
              </a:ext>
            </a:extLst>
          </p:cNvPr>
          <p:cNvSpPr>
            <a:spLocks xmlns:a="http://schemas.openxmlformats.org/drawingml/2006/main" noGrp="1"/>
          </p:cNvSpPr>
          <p:nvPr/>
        </p:nvSpPr>
        <p:spPr>
          <a:xfrm xmlns:a="http://schemas.openxmlformats.org/drawingml/2006/main">
            <a:off x="609600" y="4381500"/>
            <a:ext cx="314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257653"/>
                </a:solidFill>
                <a:latin typeface="Arial"/>
                <a:ea typeface="Arial"/>
                <a:cs typeface="Arial"/>
              </a:defRPr>
            </a:pPr>
            <a:r>
              <a:rPr sz="1125" b="1">
                <a:solidFill>
                  <a:srgbClr val="257653"/>
                </a:solidFill>
                <a:latin typeface="Arial"/>
                <a:ea typeface="Arial"/>
                <a:cs typeface="Arial"/>
              </a:rPr>
              <a:t>BOUNDED EXPLANATION LOOP</a:t>
            </a:r>
          </a:p>
        </p:txBody>
      </p:sp>
      <p:sp>
        <p:nvSpPr>
          <p:cNvPr id="28" name="">
            <a:extLst xmlns:a="http://schemas.openxmlformats.org/drawingml/2006/main">
              <a:ext uri="{FF2B5EF4-FFF2-40B4-BE49-F238E27FC236}">
                <a16:creationId xmlns:a16="http://schemas.microsoft.com/office/drawing/2014/main" id="{FD5ED01A-84EE-4A0C-8941-92A41C1C06F7}"/>
              </a:ext>
            </a:extLst>
          </p:cNvPr>
          <p:cNvSpPr>
            <a:spLocks xmlns:a="http://schemas.openxmlformats.org/drawingml/2006/main" noGrp="1"/>
          </p:cNvSpPr>
          <p:nvPr/>
        </p:nvSpPr>
        <p:spPr>
          <a:xfrm xmlns:a="http://schemas.openxmlformats.org/drawingml/2006/main">
            <a:off x="609600" y="4810125"/>
            <a:ext cx="1695450" cy="628650"/>
          </a:xfrm>
          <a:prstGeom xmlns:a="http://schemas.openxmlformats.org/drawingml/2006/main" prst="roundRect">
            <a:avLst>
              <a:gd name="adj" fmla="val 21212"/>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Typed question</a:t>
            </a:r>
          </a:p>
        </p:txBody>
      </p:sp>
      <p:sp>
        <p:nvSpPr>
          <p:cNvPr id="29" name="">
            <a:extLst xmlns:a="http://schemas.openxmlformats.org/drawingml/2006/main">
              <a:ext uri="{FF2B5EF4-FFF2-40B4-BE49-F238E27FC236}">
                <a16:creationId xmlns:a16="http://schemas.microsoft.com/office/drawing/2014/main" id="{F9BE3C24-8BD1-4498-8DD2-C0A51DC8DDEE}"/>
              </a:ext>
            </a:extLst>
          </p:cNvPr>
          <p:cNvSpPr>
            <a:spLocks xmlns:a="http://schemas.openxmlformats.org/drawingml/2006/main" noGrp="1"/>
          </p:cNvSpPr>
          <p:nvPr/>
        </p:nvSpPr>
        <p:spPr>
          <a:xfrm xmlns:a="http://schemas.openxmlformats.org/drawingml/2006/main">
            <a:off x="2762250" y="4810125"/>
            <a:ext cx="1695450" cy="628650"/>
          </a:xfrm>
          <a:prstGeom xmlns:a="http://schemas.openxmlformats.org/drawingml/2006/main" prst="roundRect">
            <a:avLst>
              <a:gd name="adj" fmla="val 21212"/>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Mask identifiers</a:t>
            </a:r>
          </a:p>
        </p:txBody>
      </p:sp>
      <p:sp>
        <p:nvSpPr>
          <p:cNvPr id="30" name="">
            <a:extLst xmlns:a="http://schemas.openxmlformats.org/drawingml/2006/main">
              <a:ext uri="{FF2B5EF4-FFF2-40B4-BE49-F238E27FC236}">
                <a16:creationId xmlns:a16="http://schemas.microsoft.com/office/drawing/2014/main" id="{9945414A-1AB3-4396-8A23-222D18288D74}"/>
              </a:ext>
            </a:extLst>
          </p:cNvPr>
          <p:cNvSpPr>
            <a:spLocks xmlns:a="http://schemas.openxmlformats.org/drawingml/2006/main" noGrp="1"/>
          </p:cNvSpPr>
          <p:nvPr/>
        </p:nvSpPr>
        <p:spPr>
          <a:xfrm xmlns:a="http://schemas.openxmlformats.org/drawingml/2006/main">
            <a:off x="4914900" y="4810125"/>
            <a:ext cx="1905000" cy="628650"/>
          </a:xfrm>
          <a:prstGeom xmlns:a="http://schemas.openxmlformats.org/drawingml/2006/main" prst="roundRect">
            <a:avLst>
              <a:gd name="adj" fmla="val 21212"/>
            </a:avLst>
          </a:prstGeom>
          <a:solidFill xmlns:a="http://schemas.openxmlformats.org/drawingml/2006/main">
            <a:srgbClr val="E4F0E8"/>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257653"/>
                </a:solidFill>
                <a:latin typeface="Arial"/>
                <a:ea typeface="Arial"/>
                <a:cs typeface="Arial"/>
              </a:defRPr>
            </a:pPr>
            <a:r>
              <a:rPr sz="1425" b="1">
                <a:solidFill>
                  <a:srgbClr val="257653"/>
                </a:solidFill>
                <a:latin typeface="Arial"/>
                <a:ea typeface="Arial"/>
                <a:cs typeface="Arial"/>
              </a:rPr>
              <a:t>Claude tool loop</a:t>
            </a:r>
          </a:p>
        </p:txBody>
      </p:sp>
      <p:sp>
        <p:nvSpPr>
          <p:cNvPr id="31" name="">
            <a:extLst xmlns:a="http://schemas.openxmlformats.org/drawingml/2006/main">
              <a:ext uri="{FF2B5EF4-FFF2-40B4-BE49-F238E27FC236}">
                <a16:creationId xmlns:a16="http://schemas.microsoft.com/office/drawing/2014/main" id="{F8748717-30DA-4B9B-829F-C253A0D2F149}"/>
              </a:ext>
            </a:extLst>
          </p:cNvPr>
          <p:cNvSpPr>
            <a:spLocks xmlns:a="http://schemas.openxmlformats.org/drawingml/2006/main" noGrp="1"/>
          </p:cNvSpPr>
          <p:nvPr/>
        </p:nvSpPr>
        <p:spPr>
          <a:xfrm xmlns:a="http://schemas.openxmlformats.org/drawingml/2006/main">
            <a:off x="7277100" y="4810125"/>
            <a:ext cx="1809750" cy="628650"/>
          </a:xfrm>
          <a:prstGeom xmlns:a="http://schemas.openxmlformats.org/drawingml/2006/main" prst="roundRect">
            <a:avLst>
              <a:gd name="adj" fmla="val 21212"/>
            </a:avLst>
          </a:prstGeom>
          <a:solidFill xmlns:a="http://schemas.openxmlformats.org/drawingml/2006/main">
            <a:srgbClr val="FFFFFF"/>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172A33"/>
                </a:solidFill>
                <a:latin typeface="Arial"/>
                <a:ea typeface="Arial"/>
                <a:cs typeface="Arial"/>
              </a:defRPr>
            </a:pPr>
            <a:r>
              <a:rPr sz="1425" b="1">
                <a:solidFill>
                  <a:srgbClr val="172A33"/>
                </a:solidFill>
                <a:latin typeface="Arial"/>
                <a:ea typeface="Arial"/>
                <a:cs typeface="Arial"/>
              </a:rPr>
              <a:t>3 read-only tools</a:t>
            </a:r>
          </a:p>
        </p:txBody>
      </p:sp>
      <p:sp>
        <p:nvSpPr>
          <p:cNvPr id="32" name="">
            <a:extLst xmlns:a="http://schemas.openxmlformats.org/drawingml/2006/main">
              <a:ext uri="{FF2B5EF4-FFF2-40B4-BE49-F238E27FC236}">
                <a16:creationId xmlns:a16="http://schemas.microsoft.com/office/drawing/2014/main" id="{9F744608-AB21-4B15-9C40-2F10DC5B2DA2}"/>
              </a:ext>
            </a:extLst>
          </p:cNvPr>
          <p:cNvSpPr>
            <a:spLocks xmlns:a="http://schemas.openxmlformats.org/drawingml/2006/main" noGrp="1"/>
          </p:cNvSpPr>
          <p:nvPr/>
        </p:nvSpPr>
        <p:spPr>
          <a:xfrm xmlns:a="http://schemas.openxmlformats.org/drawingml/2006/main">
            <a:off x="9544050" y="4810125"/>
            <a:ext cx="2057400" cy="628650"/>
          </a:xfrm>
          <a:prstGeom xmlns:a="http://schemas.openxmlformats.org/drawingml/2006/main" prst="roundRect">
            <a:avLst>
              <a:gd name="adj" fmla="val 21212"/>
            </a:avLst>
          </a:prstGeom>
          <a:solidFill xmlns:a="http://schemas.openxmlformats.org/drawingml/2006/main">
            <a:srgbClr val="123F56"/>
          </a:solidFill>
          <a:ln xmlns:a="http://schemas.openxmlformats.org/drawingml/2006/main" w="9525">
            <a:solidFill>
              <a:srgbClr val="D8D2C6"/>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425" b="1">
                <a:solidFill>
                  <a:srgbClr val="FFFFFF"/>
                </a:solidFill>
                <a:latin typeface="Arial"/>
                <a:ea typeface="Arial"/>
                <a:cs typeface="Arial"/>
              </a:defRPr>
            </a:pPr>
            <a:r>
              <a:rPr sz="1425" b="1">
                <a:solidFill>
                  <a:srgbClr val="FFFFFF"/>
                </a:solidFill>
                <a:latin typeface="Arial"/>
                <a:ea typeface="Arial"/>
                <a:cs typeface="Arial"/>
              </a:rPr>
              <a:t>Grounded answer</a:t>
            </a:r>
          </a:p>
        </p:txBody>
      </p:sp>
      <p:cxnSp>
        <p:nvCxnSpPr>
          <p:cNvPr id="72" name=""/>
          <p:cNvCxnSpPr>
            <a:stCxn xmlns:a="http://schemas.openxmlformats.org/drawingml/2006/main" id="28" idx="3"/>
            <a:endCxn xmlns:a="http://schemas.openxmlformats.org/drawingml/2006/main" id="29" idx="1"/>
          </p:cNvCxnSpPr>
          <p:nvPr/>
        </p:nvCxnSpPr>
        <p:spPr>
          <a:xfrm xmlns:a="http://schemas.openxmlformats.org/drawingml/2006/main">
            <a:off x="2305050" y="5124450"/>
            <a:ext cx="457200" cy="0"/>
          </a:xfrm>
          <a:prstGeom xmlns:a="http://schemas.openxmlformats.org/drawingml/2006/main" prst="straightConnector1">
            <a:avLst/>
          </a:prstGeom>
          <a:ln xmlns:a="http://schemas.openxmlformats.org/drawingml/2006/main" w="19050">
            <a:solidFill>
              <a:srgbClr val="257653"/>
            </a:solidFill>
            <a:prstDash val="solid"/>
            <a:tailEnd type="triangle" w="sm" len="sm"/>
          </a:ln>
        </p:spPr>
      </p:cxnSp>
      <p:cxnSp>
        <p:nvCxnSpPr>
          <p:cNvPr id="73" name=""/>
          <p:cNvCxnSpPr>
            <a:stCxn xmlns:a="http://schemas.openxmlformats.org/drawingml/2006/main" id="29" idx="3"/>
            <a:endCxn xmlns:a="http://schemas.openxmlformats.org/drawingml/2006/main" id="30" idx="1"/>
          </p:cNvCxnSpPr>
          <p:nvPr/>
        </p:nvCxnSpPr>
        <p:spPr>
          <a:xfrm xmlns:a="http://schemas.openxmlformats.org/drawingml/2006/main">
            <a:off x="4457700" y="5124450"/>
            <a:ext cx="457200" cy="0"/>
          </a:xfrm>
          <a:prstGeom xmlns:a="http://schemas.openxmlformats.org/drawingml/2006/main" prst="straightConnector1">
            <a:avLst/>
          </a:prstGeom>
          <a:ln xmlns:a="http://schemas.openxmlformats.org/drawingml/2006/main" w="19050">
            <a:solidFill>
              <a:srgbClr val="257653"/>
            </a:solidFill>
            <a:prstDash val="solid"/>
            <a:tailEnd type="triangle" w="sm" len="sm"/>
          </a:ln>
        </p:spPr>
      </p:cxnSp>
      <p:cxnSp>
        <p:nvCxnSpPr>
          <p:cNvPr id="74" name=""/>
          <p:cNvCxnSpPr>
            <a:stCxn xmlns:a="http://schemas.openxmlformats.org/drawingml/2006/main" id="30" idx="3"/>
            <a:endCxn xmlns:a="http://schemas.openxmlformats.org/drawingml/2006/main" id="31" idx="1"/>
          </p:cNvCxnSpPr>
          <p:nvPr/>
        </p:nvCxnSpPr>
        <p:spPr>
          <a:xfrm xmlns:a="http://schemas.openxmlformats.org/drawingml/2006/main">
            <a:off x="6819900" y="5124450"/>
            <a:ext cx="457200" cy="0"/>
          </a:xfrm>
          <a:prstGeom xmlns:a="http://schemas.openxmlformats.org/drawingml/2006/main" prst="straightConnector1">
            <a:avLst/>
          </a:prstGeom>
          <a:ln xmlns:a="http://schemas.openxmlformats.org/drawingml/2006/main" w="19050">
            <a:solidFill>
              <a:srgbClr val="257653"/>
            </a:solidFill>
            <a:prstDash val="solid"/>
            <a:tailEnd type="triangle" w="sm" len="sm"/>
          </a:ln>
        </p:spPr>
      </p:cxnSp>
      <p:cxnSp>
        <p:nvCxnSpPr>
          <p:cNvPr id="75" name=""/>
          <p:cNvCxnSpPr>
            <a:stCxn xmlns:a="http://schemas.openxmlformats.org/drawingml/2006/main" id="31" idx="3"/>
            <a:endCxn xmlns:a="http://schemas.openxmlformats.org/drawingml/2006/main" id="32" idx="1"/>
          </p:cNvCxnSpPr>
          <p:nvPr/>
        </p:nvCxnSpPr>
        <p:spPr>
          <a:xfrm xmlns:a="http://schemas.openxmlformats.org/drawingml/2006/main">
            <a:off x="9086850" y="5124450"/>
            <a:ext cx="457200" cy="0"/>
          </a:xfrm>
          <a:prstGeom xmlns:a="http://schemas.openxmlformats.org/drawingml/2006/main" prst="straightConnector1">
            <a:avLst/>
          </a:prstGeom>
          <a:ln xmlns:a="http://schemas.openxmlformats.org/drawingml/2006/main" w="19050">
            <a:solidFill>
              <a:srgbClr val="257653"/>
            </a:solidFill>
            <a:prstDash val="solid"/>
            <a:tailEnd type="triangle" w="sm" len="sm"/>
          </a:ln>
        </p:spPr>
      </p:cxnSp>
      <p:sp>
        <p:nvSpPr>
          <p:cNvPr id="37" name="">
            <a:extLst xmlns:a="http://schemas.openxmlformats.org/drawingml/2006/main">
              <a:ext uri="{FF2B5EF4-FFF2-40B4-BE49-F238E27FC236}">
                <a16:creationId xmlns:a16="http://schemas.microsoft.com/office/drawing/2014/main" id="{2DBA2A4B-2FA2-42E7-AB15-EB98A7918A59}"/>
              </a:ext>
            </a:extLst>
          </p:cNvPr>
          <p:cNvSpPr>
            <a:spLocks xmlns:a="http://schemas.openxmlformats.org/drawingml/2006/main" noGrp="1"/>
          </p:cNvSpPr>
          <p:nvPr/>
        </p:nvSpPr>
        <p:spPr>
          <a:xfrm xmlns:a="http://schemas.openxmlformats.org/drawingml/2006/main">
            <a:off x="4914900" y="5619750"/>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275" b="1">
                <a:solidFill>
                  <a:srgbClr val="A63E32"/>
                </a:solidFill>
                <a:latin typeface="Arial"/>
                <a:ea typeface="Arial"/>
                <a:cs typeface="Arial"/>
              </a:defRPr>
            </a:pPr>
            <a:r>
              <a:rPr sz="1275" b="1">
                <a:solidFill>
                  <a:srgbClr val="A63E32"/>
                </a:solidFill>
                <a:latin typeface="Arial"/>
                <a:ea typeface="Arial"/>
                <a:cs typeface="Arial"/>
              </a:rPr>
              <a:t>Claude cannot read PDFs or write to the ledger</a:t>
            </a:r>
          </a:p>
        </p:txBody>
      </p:sp>
      <p:sp>
        <p:nvSpPr>
          <p:cNvPr id="38" name="">
            <a:extLst xmlns:a="http://schemas.openxmlformats.org/drawingml/2006/main">
              <a:ext uri="{FF2B5EF4-FFF2-40B4-BE49-F238E27FC236}">
                <a16:creationId xmlns:a16="http://schemas.microsoft.com/office/drawing/2014/main" id="{D732DCDC-6923-4A2A-BF30-7A11BBAA12BC}"/>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78B9AA6-B8EC-4A2E-A855-BF0E0215BC98}"/>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CMU Agentic AI Capstone</a:t>
            </a:r>
          </a:p>
        </p:txBody>
      </p:sp>
    </p:spTree>
    <p:extLst>
      <p:ext uri="{BB962C8B-B14F-4D97-AF65-F5344CB8AC3E}">
        <p14:creationId xmlns:p14="http://schemas.microsoft.com/office/powerpoint/2010/main" val="501299033"/>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AEA9556-4C25-4861-97FF-CF3A054ED03A}"/>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BDECA6-2C2F-40BF-9322-E0E5B65128B4}"/>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Every displayed value stays tied to evidence</a:t>
            </a:r>
          </a:p>
        </p:txBody>
      </p:sp>
      <p:sp>
        <p:nvSpPr>
          <p:cNvPr id="3" name="">
            <a:extLst xmlns:a="http://schemas.openxmlformats.org/drawingml/2006/main">
              <a:ext uri="{FF2B5EF4-FFF2-40B4-BE49-F238E27FC236}">
                <a16:creationId xmlns:a16="http://schemas.microsoft.com/office/drawing/2014/main" id="{632D1D01-3EE8-4D32-A436-3705556D7AD2}"/>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Provenance controls what enters the ledger and what remains in the portfolio</a:t>
            </a:r>
          </a:p>
        </p:txBody>
      </p:sp>
      <p:sp>
        <p:nvSpPr>
          <p:cNvPr id="4" name="">
            <a:extLst xmlns:a="http://schemas.openxmlformats.org/drawingml/2006/main">
              <a:ext uri="{FF2B5EF4-FFF2-40B4-BE49-F238E27FC236}">
                <a16:creationId xmlns:a16="http://schemas.microsoft.com/office/drawing/2014/main" id="{B4C2CC66-F79E-4454-837B-4CAEA5B4C8B1}"/>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C736D71D-843C-42A3-8A4E-49DDC37D042C}"/>
              </a:ext>
            </a:extLst>
          </p:cNvPr>
          <p:cNvSpPr>
            <a:spLocks xmlns:a="http://schemas.openxmlformats.org/drawingml/2006/main" noGrp="1"/>
          </p:cNvSpPr>
          <p:nvPr/>
        </p:nvSpPr>
        <p:spPr>
          <a:xfrm xmlns:a="http://schemas.openxmlformats.org/drawingml/2006/main">
            <a:off x="609600" y="2047875"/>
            <a:ext cx="552450" cy="552450"/>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F6EF981-B2AC-4BC4-B8F5-2DB940719FCD}"/>
              </a:ext>
            </a:extLst>
          </p:cNvPr>
          <p:cNvSpPr>
            <a:spLocks xmlns:a="http://schemas.openxmlformats.org/drawingml/2006/main" noGrp="1"/>
          </p:cNvSpPr>
          <p:nvPr/>
        </p:nvSpPr>
        <p:spPr>
          <a:xfrm xmlns:a="http://schemas.openxmlformats.org/drawingml/2006/main">
            <a:off x="1295400" y="2047875"/>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172A33"/>
                </a:solidFill>
                <a:latin typeface="Arial"/>
                <a:ea typeface="Arial"/>
                <a:cs typeface="Arial"/>
              </a:defRPr>
            </a:pPr>
            <a:r>
              <a:rPr sz="1725" b="1">
                <a:solidFill>
                  <a:srgbClr val="172A33"/>
                </a:solidFill>
                <a:latin typeface="Arial"/>
                <a:ea typeface="Arial"/>
                <a:cs typeface="Arial"/>
              </a:rPr>
              <a:t>Classify</a:t>
            </a:r>
          </a:p>
        </p:txBody>
      </p:sp>
      <p:sp>
        <p:nvSpPr>
          <p:cNvPr id="7" name="">
            <a:extLst xmlns:a="http://schemas.openxmlformats.org/drawingml/2006/main">
              <a:ext uri="{FF2B5EF4-FFF2-40B4-BE49-F238E27FC236}">
                <a16:creationId xmlns:a16="http://schemas.microsoft.com/office/drawing/2014/main" id="{00589E1F-6B02-4E90-9AD4-ED87E4B48375}"/>
              </a:ext>
            </a:extLst>
          </p:cNvPr>
          <p:cNvSpPr>
            <a:spLocks xmlns:a="http://schemas.openxmlformats.org/drawingml/2006/main" noGrp="1"/>
          </p:cNvSpPr>
          <p:nvPr/>
        </p:nvSpPr>
        <p:spPr>
          <a:xfrm xmlns:a="http://schemas.openxmlformats.org/drawingml/2006/main">
            <a:off x="1295400" y="2419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657377"/>
                </a:solidFill>
                <a:latin typeface="Arial"/>
                <a:ea typeface="Arial"/>
                <a:cs typeface="Arial"/>
              </a:defRPr>
            </a:pPr>
            <a:r>
              <a:rPr sz="1275" b="0">
                <a:solidFill>
                  <a:srgbClr val="657377"/>
                </a:solidFill>
                <a:latin typeface="Arial"/>
                <a:ea typeface="Arial"/>
                <a:cs typeface="Arial"/>
              </a:rPr>
              <a:t>Choose the document path</a:t>
            </a:r>
          </a:p>
        </p:txBody>
      </p:sp>
      <p:sp>
        <p:nvSpPr>
          <p:cNvPr id="8" name="">
            <a:extLst xmlns:a="http://schemas.openxmlformats.org/drawingml/2006/main">
              <a:ext uri="{FF2B5EF4-FFF2-40B4-BE49-F238E27FC236}">
                <a16:creationId xmlns:a16="http://schemas.microsoft.com/office/drawing/2014/main" id="{5BBAD7EC-E344-42E3-A2B4-B8B1D3343825}"/>
              </a:ext>
            </a:extLst>
          </p:cNvPr>
          <p:cNvSpPr>
            <a:spLocks xmlns:a="http://schemas.openxmlformats.org/drawingml/2006/main" noGrp="1"/>
          </p:cNvSpPr>
          <p:nvPr/>
        </p:nvSpPr>
        <p:spPr>
          <a:xfrm xmlns:a="http://schemas.openxmlformats.org/drawingml/2006/main">
            <a:off x="1162050" y="2324100"/>
            <a:ext cx="1552575" cy="0"/>
          </a:xfrm>
          <a:prstGeom xmlns:a="http://schemas.openxmlformats.org/drawingml/2006/main" prst="line">
            <a:avLst/>
          </a:prstGeom>
          <a:noFill xmlns:a="http://schemas.openxmlformats.org/drawingml/2006/main"/>
          <a:ln xmlns:a="http://schemas.openxmlformats.org/drawingml/2006/main" w="19050">
            <a:solidFill>
              <a:srgbClr val="D8D2C6"/>
            </a:solidFill>
            <a:prstDash val="solid"/>
          </a:ln>
        </p:spPr>
      </p:sp>
      <p:sp>
        <p:nvSpPr>
          <p:cNvPr id="9" name="">
            <a:extLst xmlns:a="http://schemas.openxmlformats.org/drawingml/2006/main">
              <a:ext uri="{FF2B5EF4-FFF2-40B4-BE49-F238E27FC236}">
                <a16:creationId xmlns:a16="http://schemas.microsoft.com/office/drawing/2014/main" id="{B2157529-2B58-49FA-B11C-C8651152DE9E}"/>
              </a:ext>
            </a:extLst>
          </p:cNvPr>
          <p:cNvSpPr>
            <a:spLocks xmlns:a="http://schemas.openxmlformats.org/drawingml/2006/main" noGrp="1"/>
          </p:cNvSpPr>
          <p:nvPr/>
        </p:nvSpPr>
        <p:spPr>
          <a:xfrm xmlns:a="http://schemas.openxmlformats.org/drawingml/2006/main">
            <a:off x="2847975" y="2047875"/>
            <a:ext cx="552450" cy="552450"/>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05F0FEE9-CCFF-4680-92C2-4DA8A837EDCD}"/>
              </a:ext>
            </a:extLst>
          </p:cNvPr>
          <p:cNvSpPr>
            <a:spLocks xmlns:a="http://schemas.openxmlformats.org/drawingml/2006/main" noGrp="1"/>
          </p:cNvSpPr>
          <p:nvPr/>
        </p:nvSpPr>
        <p:spPr>
          <a:xfrm xmlns:a="http://schemas.openxmlformats.org/drawingml/2006/main">
            <a:off x="3533775" y="2047875"/>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172A33"/>
                </a:solidFill>
                <a:latin typeface="Arial"/>
                <a:ea typeface="Arial"/>
                <a:cs typeface="Arial"/>
              </a:defRPr>
            </a:pPr>
            <a:r>
              <a:rPr sz="1725" b="1">
                <a:solidFill>
                  <a:srgbClr val="172A33"/>
                </a:solidFill>
                <a:latin typeface="Arial"/>
                <a:ea typeface="Arial"/>
                <a:cs typeface="Arial"/>
              </a:rPr>
              <a:t>Extract</a:t>
            </a:r>
          </a:p>
        </p:txBody>
      </p:sp>
      <p:sp>
        <p:nvSpPr>
          <p:cNvPr id="11" name="">
            <a:extLst xmlns:a="http://schemas.openxmlformats.org/drawingml/2006/main">
              <a:ext uri="{FF2B5EF4-FFF2-40B4-BE49-F238E27FC236}">
                <a16:creationId xmlns:a16="http://schemas.microsoft.com/office/drawing/2014/main" id="{B75CE89E-BF05-42E0-97C6-1335CF526DCA}"/>
              </a:ext>
            </a:extLst>
          </p:cNvPr>
          <p:cNvSpPr>
            <a:spLocks xmlns:a="http://schemas.openxmlformats.org/drawingml/2006/main" noGrp="1"/>
          </p:cNvSpPr>
          <p:nvPr/>
        </p:nvSpPr>
        <p:spPr>
          <a:xfrm xmlns:a="http://schemas.openxmlformats.org/drawingml/2006/main">
            <a:off x="3533775" y="2419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657377"/>
                </a:solidFill>
                <a:latin typeface="Arial"/>
                <a:ea typeface="Arial"/>
                <a:cs typeface="Arial"/>
              </a:defRPr>
            </a:pPr>
            <a:r>
              <a:rPr sz="1275" b="0">
                <a:solidFill>
                  <a:srgbClr val="657377"/>
                </a:solidFill>
                <a:latin typeface="Arial"/>
                <a:ea typeface="Arial"/>
                <a:cs typeface="Arial"/>
              </a:rPr>
              <a:t>Keep supported fields only</a:t>
            </a:r>
          </a:p>
        </p:txBody>
      </p:sp>
      <p:sp>
        <p:nvSpPr>
          <p:cNvPr id="12" name="">
            <a:extLst xmlns:a="http://schemas.openxmlformats.org/drawingml/2006/main">
              <a:ext uri="{FF2B5EF4-FFF2-40B4-BE49-F238E27FC236}">
                <a16:creationId xmlns:a16="http://schemas.microsoft.com/office/drawing/2014/main" id="{BD60A427-80EE-4135-A219-9AE720C4C6F2}"/>
              </a:ext>
            </a:extLst>
          </p:cNvPr>
          <p:cNvSpPr>
            <a:spLocks xmlns:a="http://schemas.openxmlformats.org/drawingml/2006/main" noGrp="1"/>
          </p:cNvSpPr>
          <p:nvPr/>
        </p:nvSpPr>
        <p:spPr>
          <a:xfrm xmlns:a="http://schemas.openxmlformats.org/drawingml/2006/main">
            <a:off x="3400425" y="2324100"/>
            <a:ext cx="1552575" cy="0"/>
          </a:xfrm>
          <a:prstGeom xmlns:a="http://schemas.openxmlformats.org/drawingml/2006/main" prst="line">
            <a:avLst/>
          </a:prstGeom>
          <a:noFill xmlns:a="http://schemas.openxmlformats.org/drawingml/2006/main"/>
          <a:ln xmlns:a="http://schemas.openxmlformats.org/drawingml/2006/main" w="19050">
            <a:solidFill>
              <a:srgbClr val="D8D2C6"/>
            </a:solidFill>
            <a:prstDash val="solid"/>
          </a:ln>
        </p:spPr>
      </p:sp>
      <p:sp>
        <p:nvSpPr>
          <p:cNvPr id="13" name="">
            <a:extLst xmlns:a="http://schemas.openxmlformats.org/drawingml/2006/main">
              <a:ext uri="{FF2B5EF4-FFF2-40B4-BE49-F238E27FC236}">
                <a16:creationId xmlns:a16="http://schemas.microsoft.com/office/drawing/2014/main" id="{6F5ABD23-19BA-4647-B613-A157D8E99A09}"/>
              </a:ext>
            </a:extLst>
          </p:cNvPr>
          <p:cNvSpPr>
            <a:spLocks xmlns:a="http://schemas.openxmlformats.org/drawingml/2006/main" noGrp="1"/>
          </p:cNvSpPr>
          <p:nvPr/>
        </p:nvSpPr>
        <p:spPr>
          <a:xfrm xmlns:a="http://schemas.openxmlformats.org/drawingml/2006/main">
            <a:off x="5086350" y="2047875"/>
            <a:ext cx="552450" cy="552450"/>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F9C544A4-3EA4-41B1-A3D2-9CD498F102CF}"/>
              </a:ext>
            </a:extLst>
          </p:cNvPr>
          <p:cNvSpPr>
            <a:spLocks xmlns:a="http://schemas.openxmlformats.org/drawingml/2006/main" noGrp="1"/>
          </p:cNvSpPr>
          <p:nvPr/>
        </p:nvSpPr>
        <p:spPr>
          <a:xfrm xmlns:a="http://schemas.openxmlformats.org/drawingml/2006/main">
            <a:off x="5772150" y="2047875"/>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172A33"/>
                </a:solidFill>
                <a:latin typeface="Arial"/>
                <a:ea typeface="Arial"/>
                <a:cs typeface="Arial"/>
              </a:defRPr>
            </a:pPr>
            <a:r>
              <a:rPr sz="1725" b="1">
                <a:solidFill>
                  <a:srgbClr val="172A33"/>
                </a:solidFill>
                <a:latin typeface="Arial"/>
                <a:ea typeface="Arial"/>
                <a:cs typeface="Arial"/>
              </a:rPr>
              <a:t>Validate</a:t>
            </a:r>
          </a:p>
        </p:txBody>
      </p:sp>
      <p:sp>
        <p:nvSpPr>
          <p:cNvPr id="15" name="">
            <a:extLst xmlns:a="http://schemas.openxmlformats.org/drawingml/2006/main">
              <a:ext uri="{FF2B5EF4-FFF2-40B4-BE49-F238E27FC236}">
                <a16:creationId xmlns:a16="http://schemas.microsoft.com/office/drawing/2014/main" id="{E1C77041-2CBF-459B-94BE-4EFB52714C31}"/>
              </a:ext>
            </a:extLst>
          </p:cNvPr>
          <p:cNvSpPr>
            <a:spLocks xmlns:a="http://schemas.openxmlformats.org/drawingml/2006/main" noGrp="1"/>
          </p:cNvSpPr>
          <p:nvPr/>
        </p:nvSpPr>
        <p:spPr>
          <a:xfrm xmlns:a="http://schemas.openxmlformats.org/drawingml/2006/main">
            <a:off x="5772150" y="2419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657377"/>
                </a:solidFill>
                <a:latin typeface="Arial"/>
                <a:ea typeface="Arial"/>
                <a:cs typeface="Arial"/>
              </a:defRPr>
            </a:pPr>
            <a:r>
              <a:rPr sz="1275" b="0">
                <a:solidFill>
                  <a:srgbClr val="657377"/>
                </a:solidFill>
                <a:latin typeface="Arial"/>
                <a:ea typeface="Arial"/>
                <a:cs typeface="Arial"/>
              </a:rPr>
              <a:t>Check schemas and totals</a:t>
            </a:r>
          </a:p>
        </p:txBody>
      </p:sp>
      <p:sp>
        <p:nvSpPr>
          <p:cNvPr id="16" name="">
            <a:extLst xmlns:a="http://schemas.openxmlformats.org/drawingml/2006/main">
              <a:ext uri="{FF2B5EF4-FFF2-40B4-BE49-F238E27FC236}">
                <a16:creationId xmlns:a16="http://schemas.microsoft.com/office/drawing/2014/main" id="{13ABF372-283B-4C21-A4B3-2DE5792D16BF}"/>
              </a:ext>
            </a:extLst>
          </p:cNvPr>
          <p:cNvSpPr>
            <a:spLocks xmlns:a="http://schemas.openxmlformats.org/drawingml/2006/main" noGrp="1"/>
          </p:cNvSpPr>
          <p:nvPr/>
        </p:nvSpPr>
        <p:spPr>
          <a:xfrm xmlns:a="http://schemas.openxmlformats.org/drawingml/2006/main">
            <a:off x="5638800" y="2324100"/>
            <a:ext cx="1552575" cy="0"/>
          </a:xfrm>
          <a:prstGeom xmlns:a="http://schemas.openxmlformats.org/drawingml/2006/main" prst="line">
            <a:avLst/>
          </a:prstGeom>
          <a:noFill xmlns:a="http://schemas.openxmlformats.org/drawingml/2006/main"/>
          <a:ln xmlns:a="http://schemas.openxmlformats.org/drawingml/2006/main" w="19050">
            <a:solidFill>
              <a:srgbClr val="D8D2C6"/>
            </a:solidFill>
            <a:prstDash val="solid"/>
          </a:ln>
        </p:spPr>
      </p:sp>
      <p:sp>
        <p:nvSpPr>
          <p:cNvPr id="17" name="">
            <a:extLst xmlns:a="http://schemas.openxmlformats.org/drawingml/2006/main">
              <a:ext uri="{FF2B5EF4-FFF2-40B4-BE49-F238E27FC236}">
                <a16:creationId xmlns:a16="http://schemas.microsoft.com/office/drawing/2014/main" id="{FF084DEA-CAA8-4DB9-9729-C39B6B3DBFDD}"/>
              </a:ext>
            </a:extLst>
          </p:cNvPr>
          <p:cNvSpPr>
            <a:spLocks xmlns:a="http://schemas.openxmlformats.org/drawingml/2006/main" noGrp="1"/>
          </p:cNvSpPr>
          <p:nvPr/>
        </p:nvSpPr>
        <p:spPr>
          <a:xfrm xmlns:a="http://schemas.openxmlformats.org/drawingml/2006/main">
            <a:off x="7324725" y="2047875"/>
            <a:ext cx="552450" cy="552450"/>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0B58990A-1236-43C3-AC6F-E2CF25F1FBB2}"/>
              </a:ext>
            </a:extLst>
          </p:cNvPr>
          <p:cNvSpPr>
            <a:spLocks xmlns:a="http://schemas.openxmlformats.org/drawingml/2006/main" noGrp="1"/>
          </p:cNvSpPr>
          <p:nvPr/>
        </p:nvSpPr>
        <p:spPr>
          <a:xfrm xmlns:a="http://schemas.openxmlformats.org/drawingml/2006/main">
            <a:off x="8010525" y="2047875"/>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172A33"/>
                </a:solidFill>
                <a:latin typeface="Arial"/>
                <a:ea typeface="Arial"/>
                <a:cs typeface="Arial"/>
              </a:defRPr>
            </a:pPr>
            <a:r>
              <a:rPr sz="1725" b="1">
                <a:solidFill>
                  <a:srgbClr val="172A33"/>
                </a:solidFill>
                <a:latin typeface="Arial"/>
                <a:ea typeface="Arial"/>
                <a:cs typeface="Arial"/>
              </a:rPr>
              <a:t>Persist</a:t>
            </a:r>
          </a:p>
        </p:txBody>
      </p:sp>
      <p:sp>
        <p:nvSpPr>
          <p:cNvPr id="19" name="">
            <a:extLst xmlns:a="http://schemas.openxmlformats.org/drawingml/2006/main">
              <a:ext uri="{FF2B5EF4-FFF2-40B4-BE49-F238E27FC236}">
                <a16:creationId xmlns:a16="http://schemas.microsoft.com/office/drawing/2014/main" id="{5C3FA90A-E1B5-4558-9B90-0D80E1CC5CEA}"/>
              </a:ext>
            </a:extLst>
          </p:cNvPr>
          <p:cNvSpPr>
            <a:spLocks xmlns:a="http://schemas.openxmlformats.org/drawingml/2006/main" noGrp="1"/>
          </p:cNvSpPr>
          <p:nvPr/>
        </p:nvSpPr>
        <p:spPr>
          <a:xfrm xmlns:a="http://schemas.openxmlformats.org/drawingml/2006/main">
            <a:off x="8010525" y="2419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657377"/>
                </a:solidFill>
                <a:latin typeface="Arial"/>
                <a:ea typeface="Arial"/>
                <a:cs typeface="Arial"/>
              </a:defRPr>
            </a:pPr>
            <a:r>
              <a:rPr sz="1275" b="0">
                <a:solidFill>
                  <a:srgbClr val="657377"/>
                </a:solidFill>
                <a:latin typeface="Arial"/>
                <a:ea typeface="Arial"/>
                <a:cs typeface="Arial"/>
              </a:rPr>
              <a:t>Hash, period, and source date</a:t>
            </a:r>
          </a:p>
        </p:txBody>
      </p:sp>
      <p:sp>
        <p:nvSpPr>
          <p:cNvPr id="20" name="">
            <a:extLst xmlns:a="http://schemas.openxmlformats.org/drawingml/2006/main">
              <a:ext uri="{FF2B5EF4-FFF2-40B4-BE49-F238E27FC236}">
                <a16:creationId xmlns:a16="http://schemas.microsoft.com/office/drawing/2014/main" id="{F2F5EC63-D66A-43F2-9E66-E33BD064E948}"/>
              </a:ext>
            </a:extLst>
          </p:cNvPr>
          <p:cNvSpPr>
            <a:spLocks xmlns:a="http://schemas.openxmlformats.org/drawingml/2006/main" noGrp="1"/>
          </p:cNvSpPr>
          <p:nvPr/>
        </p:nvSpPr>
        <p:spPr>
          <a:xfrm xmlns:a="http://schemas.openxmlformats.org/drawingml/2006/main">
            <a:off x="7877175" y="2324100"/>
            <a:ext cx="1552575" cy="0"/>
          </a:xfrm>
          <a:prstGeom xmlns:a="http://schemas.openxmlformats.org/drawingml/2006/main" prst="line">
            <a:avLst/>
          </a:prstGeom>
          <a:noFill xmlns:a="http://schemas.openxmlformats.org/drawingml/2006/main"/>
          <a:ln xmlns:a="http://schemas.openxmlformats.org/drawingml/2006/main" w="19050">
            <a:solidFill>
              <a:srgbClr val="D8D2C6"/>
            </a:solidFill>
            <a:prstDash val="solid"/>
          </a:ln>
        </p:spPr>
      </p:sp>
      <p:sp>
        <p:nvSpPr>
          <p:cNvPr id="21" name="">
            <a:extLst xmlns:a="http://schemas.openxmlformats.org/drawingml/2006/main">
              <a:ext uri="{FF2B5EF4-FFF2-40B4-BE49-F238E27FC236}">
                <a16:creationId xmlns:a16="http://schemas.microsoft.com/office/drawing/2014/main" id="{CD308D0A-9BFC-49C6-B9CE-EDAA5BFDA299}"/>
              </a:ext>
            </a:extLst>
          </p:cNvPr>
          <p:cNvSpPr>
            <a:spLocks xmlns:a="http://schemas.openxmlformats.org/drawingml/2006/main" noGrp="1"/>
          </p:cNvSpPr>
          <p:nvPr/>
        </p:nvSpPr>
        <p:spPr>
          <a:xfrm xmlns:a="http://schemas.openxmlformats.org/drawingml/2006/main">
            <a:off x="9563100" y="2047875"/>
            <a:ext cx="552450" cy="552450"/>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C2D8E3C4-DE75-4587-9849-59D588204C92}"/>
              </a:ext>
            </a:extLst>
          </p:cNvPr>
          <p:cNvSpPr>
            <a:spLocks xmlns:a="http://schemas.openxmlformats.org/drawingml/2006/main" noGrp="1"/>
          </p:cNvSpPr>
          <p:nvPr/>
        </p:nvSpPr>
        <p:spPr>
          <a:xfrm xmlns:a="http://schemas.openxmlformats.org/drawingml/2006/main">
            <a:off x="10248900" y="2047875"/>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172A33"/>
                </a:solidFill>
                <a:latin typeface="Arial"/>
                <a:ea typeface="Arial"/>
                <a:cs typeface="Arial"/>
              </a:defRPr>
            </a:pPr>
            <a:r>
              <a:rPr sz="1725" b="1">
                <a:solidFill>
                  <a:srgbClr val="172A33"/>
                </a:solidFill>
                <a:latin typeface="Arial"/>
                <a:ea typeface="Arial"/>
                <a:cs typeface="Arial"/>
              </a:rPr>
              <a:t>Calculate</a:t>
            </a:r>
          </a:p>
        </p:txBody>
      </p:sp>
      <p:sp>
        <p:nvSpPr>
          <p:cNvPr id="23" name="">
            <a:extLst xmlns:a="http://schemas.openxmlformats.org/drawingml/2006/main">
              <a:ext uri="{FF2B5EF4-FFF2-40B4-BE49-F238E27FC236}">
                <a16:creationId xmlns:a16="http://schemas.microsoft.com/office/drawing/2014/main" id="{76C8D8C2-222E-499D-AF67-22A455FDA0ED}"/>
              </a:ext>
            </a:extLst>
          </p:cNvPr>
          <p:cNvSpPr>
            <a:spLocks xmlns:a="http://schemas.openxmlformats.org/drawingml/2006/main" noGrp="1"/>
          </p:cNvSpPr>
          <p:nvPr/>
        </p:nvSpPr>
        <p:spPr>
          <a:xfrm xmlns:a="http://schemas.openxmlformats.org/drawingml/2006/main">
            <a:off x="10248900" y="2419350"/>
            <a:ext cx="1352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75" b="0">
                <a:solidFill>
                  <a:srgbClr val="657377"/>
                </a:solidFill>
                <a:latin typeface="Arial"/>
                <a:ea typeface="Arial"/>
                <a:cs typeface="Arial"/>
              </a:defRPr>
            </a:pPr>
            <a:r>
              <a:rPr sz="1275" b="0">
                <a:solidFill>
                  <a:srgbClr val="657377"/>
                </a:solidFill>
                <a:latin typeface="Arial"/>
                <a:ea typeface="Arial"/>
                <a:cs typeface="Arial"/>
              </a:rPr>
              <a:t>Use the latest active source</a:t>
            </a:r>
          </a:p>
        </p:txBody>
      </p:sp>
      <p:sp>
        <p:nvSpPr>
          <p:cNvPr id="24" name="">
            <a:extLst xmlns:a="http://schemas.openxmlformats.org/drawingml/2006/main">
              <a:ext uri="{FF2B5EF4-FFF2-40B4-BE49-F238E27FC236}">
                <a16:creationId xmlns:a16="http://schemas.microsoft.com/office/drawing/2014/main" id="{3AB99327-C444-414F-B9A1-22F185291A69}"/>
              </a:ext>
            </a:extLst>
          </p:cNvPr>
          <p:cNvSpPr>
            <a:spLocks xmlns:a="http://schemas.openxmlformats.org/drawingml/2006/main" noGrp="1"/>
          </p:cNvSpPr>
          <p:nvPr/>
        </p:nvSpPr>
        <p:spPr>
          <a:xfrm xmlns:a="http://schemas.openxmlformats.org/drawingml/2006/main">
            <a:off x="609600" y="3543300"/>
            <a:ext cx="1099185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5CA68FA-1989-4A58-BEF7-2D81F785524A}"/>
              </a:ext>
            </a:extLst>
          </p:cNvPr>
          <p:cNvSpPr>
            <a:spLocks xmlns:a="http://schemas.openxmlformats.org/drawingml/2006/main" noGrp="1"/>
          </p:cNvSpPr>
          <p:nvPr/>
        </p:nvSpPr>
        <p:spPr>
          <a:xfrm xmlns:a="http://schemas.openxmlformats.org/drawingml/2006/main">
            <a:off x="609600" y="3838575"/>
            <a:ext cx="304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257653"/>
                </a:solidFill>
                <a:latin typeface="Arial"/>
                <a:ea typeface="Arial"/>
                <a:cs typeface="Arial"/>
              </a:defRPr>
            </a:pPr>
            <a:r>
              <a:rPr sz="1125" b="1">
                <a:solidFill>
                  <a:srgbClr val="257653"/>
                </a:solidFill>
                <a:latin typeface="Arial"/>
                <a:ea typeface="Arial"/>
                <a:cs typeface="Arial"/>
              </a:rPr>
              <a:t>REVERSIBLE SOURCE CONTROL</a:t>
            </a:r>
          </a:p>
        </p:txBody>
      </p:sp>
      <p:sp>
        <p:nvSpPr>
          <p:cNvPr id="26" name="">
            <a:extLst xmlns:a="http://schemas.openxmlformats.org/drawingml/2006/main">
              <a:ext uri="{FF2B5EF4-FFF2-40B4-BE49-F238E27FC236}">
                <a16:creationId xmlns:a16="http://schemas.microsoft.com/office/drawing/2014/main" id="{D15ABD1E-05C3-4FA2-A1B4-EF30FEC38756}"/>
              </a:ext>
            </a:extLst>
          </p:cNvPr>
          <p:cNvSpPr>
            <a:spLocks xmlns:a="http://schemas.openxmlformats.org/drawingml/2006/main" noGrp="1"/>
          </p:cNvSpPr>
          <p:nvPr/>
        </p:nvSpPr>
        <p:spPr>
          <a:xfrm xmlns:a="http://schemas.openxmlformats.org/drawingml/2006/main">
            <a:off x="762000" y="4410075"/>
            <a:ext cx="1219200" cy="476250"/>
          </a:xfrm>
          <a:prstGeom xmlns:a="http://schemas.openxmlformats.org/drawingml/2006/main" prst="roundRect">
            <a:avLst>
              <a:gd name="adj" fmla="val 28000"/>
            </a:avLst>
          </a:prstGeom>
          <a:solidFill xmlns:a="http://schemas.openxmlformats.org/drawingml/2006/main">
            <a:srgbClr val="E4F0E8"/>
          </a:solidFill>
          <a:ln xmlns:a="http://schemas.openxmlformats.org/drawingml/2006/main" w="9525">
            <a:solidFill>
              <a:srgbClr val="257653"/>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350" b="1">
                <a:solidFill>
                  <a:srgbClr val="257653"/>
                </a:solidFill>
                <a:latin typeface="Arial"/>
                <a:ea typeface="Arial"/>
                <a:cs typeface="Arial"/>
              </a:defRPr>
            </a:pPr>
            <a:r>
              <a:rPr sz="1350" b="1">
                <a:solidFill>
                  <a:srgbClr val="257653"/>
                </a:solidFill>
                <a:latin typeface="Arial"/>
                <a:ea typeface="Arial"/>
                <a:cs typeface="Arial"/>
              </a:rPr>
              <a:t>ACTIVE</a:t>
            </a:r>
          </a:p>
        </p:txBody>
      </p:sp>
      <p:sp>
        <p:nvSpPr>
          <p:cNvPr id="27" name="">
            <a:extLst xmlns:a="http://schemas.openxmlformats.org/drawingml/2006/main">
              <a:ext uri="{FF2B5EF4-FFF2-40B4-BE49-F238E27FC236}">
                <a16:creationId xmlns:a16="http://schemas.microsoft.com/office/drawing/2014/main" id="{E8B6D56B-A494-4BAE-91BB-6303A32D7945}"/>
              </a:ext>
            </a:extLst>
          </p:cNvPr>
          <p:cNvSpPr>
            <a:spLocks xmlns:a="http://schemas.openxmlformats.org/drawingml/2006/main" noGrp="1"/>
          </p:cNvSpPr>
          <p:nvPr/>
        </p:nvSpPr>
        <p:spPr>
          <a:xfrm xmlns:a="http://schemas.openxmlformats.org/drawingml/2006/main">
            <a:off x="2209800" y="434340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1">
                <a:solidFill>
                  <a:srgbClr val="172A33"/>
                </a:solidFill>
                <a:latin typeface="Arial"/>
                <a:ea typeface="Arial"/>
                <a:cs typeface="Arial"/>
              </a:defRPr>
            </a:pPr>
            <a:r>
              <a:rPr sz="1725" b="1">
                <a:solidFill>
                  <a:srgbClr val="172A33"/>
                </a:solidFill>
                <a:latin typeface="Arial"/>
                <a:ea typeface="Arial"/>
                <a:cs typeface="Arial"/>
              </a:rPr>
              <a:t>Linked records influence net worth, ROI, risk, and policy views</a:t>
            </a:r>
          </a:p>
        </p:txBody>
      </p:sp>
      <p:sp>
        <p:nvSpPr>
          <p:cNvPr id="28" name="">
            <a:extLst xmlns:a="http://schemas.openxmlformats.org/drawingml/2006/main">
              <a:ext uri="{FF2B5EF4-FFF2-40B4-BE49-F238E27FC236}">
                <a16:creationId xmlns:a16="http://schemas.microsoft.com/office/drawing/2014/main" id="{D40402ED-A00A-4F29-8B57-79543A9DEF07}"/>
              </a:ext>
            </a:extLst>
          </p:cNvPr>
          <p:cNvSpPr>
            <a:spLocks xmlns:a="http://schemas.openxmlformats.org/drawingml/2006/main" noGrp="1"/>
          </p:cNvSpPr>
          <p:nvPr/>
        </p:nvSpPr>
        <p:spPr>
          <a:xfrm xmlns:a="http://schemas.openxmlformats.org/drawingml/2006/main">
            <a:off x="6743700" y="4410075"/>
            <a:ext cx="1352550" cy="476250"/>
          </a:xfrm>
          <a:prstGeom xmlns:a="http://schemas.openxmlformats.org/drawingml/2006/main" prst="roundRect">
            <a:avLst>
              <a:gd name="adj" fmla="val 28000"/>
            </a:avLst>
          </a:prstGeom>
          <a:solidFill xmlns:a="http://schemas.openxmlformats.org/drawingml/2006/main">
            <a:srgbClr val="F3EAD7"/>
          </a:solidFill>
          <a:ln xmlns:a="http://schemas.openxmlformats.org/drawingml/2006/main" w="9525">
            <a:solidFill>
              <a:srgbClr val="A27433"/>
            </a:solidFill>
            <a:prstDash val="solid"/>
          </a:ln>
        </p:spPr>
        <p:txBody>
          <a:bodyPr xmlns:a="http://schemas.openxmlformats.org/drawingml/2006/main" wrap="square" lIns="133350" tIns="76200" rIns="133350" bIns="76200" anchor="ctr">
            <a:noAutofit/>
          </a:bodyPr>
          <a:lstStyle xmlns:a="http://schemas.openxmlformats.org/drawingml/2006/main"/>
          <a:p xmlns:a="http://schemas.openxmlformats.org/drawingml/2006/main">
            <a:pPr algn="ctr">
              <a:lnSpc>
                <a:spcPct val="105000"/>
              </a:lnSpc>
              <a:buNone/>
              <a:defRPr sz="1350" b="1">
                <a:solidFill>
                  <a:srgbClr val="A27433"/>
                </a:solidFill>
                <a:latin typeface="Arial"/>
                <a:ea typeface="Arial"/>
                <a:cs typeface="Arial"/>
              </a:defRPr>
            </a:pPr>
            <a:r>
              <a:rPr sz="1350" b="1">
                <a:solidFill>
                  <a:srgbClr val="A27433"/>
                </a:solidFill>
                <a:latin typeface="Arial"/>
                <a:ea typeface="Arial"/>
                <a:cs typeface="Arial"/>
              </a:rPr>
              <a:t>INACTIVE</a:t>
            </a:r>
          </a:p>
        </p:txBody>
      </p:sp>
      <p:sp>
        <p:nvSpPr>
          <p:cNvPr id="29" name="">
            <a:extLst xmlns:a="http://schemas.openxmlformats.org/drawingml/2006/main">
              <a:ext uri="{FF2B5EF4-FFF2-40B4-BE49-F238E27FC236}">
                <a16:creationId xmlns:a16="http://schemas.microsoft.com/office/drawing/2014/main" id="{6504D852-F271-4E5B-8109-C9802E6CBB2F}"/>
              </a:ext>
            </a:extLst>
          </p:cNvPr>
          <p:cNvSpPr>
            <a:spLocks xmlns:a="http://schemas.openxmlformats.org/drawingml/2006/main" noGrp="1"/>
          </p:cNvSpPr>
          <p:nvPr/>
        </p:nvSpPr>
        <p:spPr>
          <a:xfrm xmlns:a="http://schemas.openxmlformats.org/drawingml/2006/main">
            <a:off x="8334375" y="4343400"/>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725" b="1">
                <a:solidFill>
                  <a:srgbClr val="172A33"/>
                </a:solidFill>
                <a:latin typeface="Arial"/>
                <a:ea typeface="Arial"/>
                <a:cs typeface="Arial"/>
              </a:defRPr>
            </a:pPr>
            <a:r>
              <a:rPr sz="1725" b="1">
                <a:solidFill>
                  <a:srgbClr val="172A33"/>
                </a:solidFill>
                <a:latin typeface="Arial"/>
                <a:ea typeface="Arial"/>
                <a:cs typeface="Arial"/>
              </a:rPr>
              <a:t>Records stay in the ledger but leave every portfolio calculation</a:t>
            </a:r>
          </a:p>
        </p:txBody>
      </p:sp>
      <p:sp>
        <p:nvSpPr>
          <p:cNvPr id="30" name="">
            <a:extLst xmlns:a="http://schemas.openxmlformats.org/drawingml/2006/main">
              <a:ext uri="{FF2B5EF4-FFF2-40B4-BE49-F238E27FC236}">
                <a16:creationId xmlns:a16="http://schemas.microsoft.com/office/drawing/2014/main" id="{A30756BA-F93F-45DC-B2CE-7260BB1015FD}"/>
              </a:ext>
            </a:extLst>
          </p:cNvPr>
          <p:cNvSpPr>
            <a:spLocks xmlns:a="http://schemas.openxmlformats.org/drawingml/2006/main" noGrp="1"/>
          </p:cNvSpPr>
          <p:nvPr/>
        </p:nvSpPr>
        <p:spPr>
          <a:xfrm xmlns:a="http://schemas.openxmlformats.org/drawingml/2006/main">
            <a:off x="609600" y="5524500"/>
            <a:ext cx="10991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025" b="1">
                <a:solidFill>
                  <a:srgbClr val="123F56"/>
                </a:solidFill>
                <a:latin typeface="Arial"/>
                <a:ea typeface="Arial"/>
                <a:cs typeface="Arial"/>
              </a:defRPr>
            </a:pPr>
            <a:r>
              <a:rPr sz="2025" b="1">
                <a:solidFill>
                  <a:srgbClr val="123F56"/>
                </a:solidFill>
                <a:latin typeface="Arial"/>
                <a:ea typeface="Arial"/>
                <a:cs typeface="Arial"/>
              </a:rPr>
              <a:t>No deletion. No silent duplication. No unsupported value.</a:t>
            </a:r>
          </a:p>
        </p:txBody>
      </p:sp>
      <p:sp>
        <p:nvSpPr>
          <p:cNvPr id="31" name="">
            <a:extLst xmlns:a="http://schemas.openxmlformats.org/drawingml/2006/main">
              <a:ext uri="{FF2B5EF4-FFF2-40B4-BE49-F238E27FC236}">
                <a16:creationId xmlns:a16="http://schemas.microsoft.com/office/drawing/2014/main" id="{012CDF5E-84D4-4CA5-9B36-09ECCA67A871}"/>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7F3D62C-9C3E-4083-B45E-7B50DE459A9B}"/>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CMU Agentic AI Capstone</a:t>
            </a:r>
          </a:p>
        </p:txBody>
      </p:sp>
    </p:spTree>
    <p:extLst>
      <p:ext uri="{BB962C8B-B14F-4D97-AF65-F5344CB8AC3E}">
        <p14:creationId xmlns:p14="http://schemas.microsoft.com/office/powerpoint/2010/main" val="2017873684"/>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A91D623-AE4E-4ADD-BD14-FCD8E5546D67}"/>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902A55-9448-40FF-8E8B-010D60BF4BBA}"/>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Failures made the design smaller and safer</a:t>
            </a:r>
          </a:p>
        </p:txBody>
      </p:sp>
      <p:sp>
        <p:nvSpPr>
          <p:cNvPr id="3" name="">
            <a:extLst xmlns:a="http://schemas.openxmlformats.org/drawingml/2006/main">
              <a:ext uri="{FF2B5EF4-FFF2-40B4-BE49-F238E27FC236}">
                <a16:creationId xmlns:a16="http://schemas.microsoft.com/office/drawing/2014/main" id="{0EF6CF1E-A167-4991-A5FE-B6D36163C931}"/>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Each difficult document removed an assumption from the architecture</a:t>
            </a:r>
          </a:p>
        </p:txBody>
      </p:sp>
      <p:sp>
        <p:nvSpPr>
          <p:cNvPr id="4" name="">
            <a:extLst xmlns:a="http://schemas.openxmlformats.org/drawingml/2006/main">
              <a:ext uri="{FF2B5EF4-FFF2-40B4-BE49-F238E27FC236}">
                <a16:creationId xmlns:a16="http://schemas.microsoft.com/office/drawing/2014/main" id="{CCDD5FC0-4D44-46A5-8A63-CE9EAD4A4F7F}"/>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D55AC61E-2FE2-4A68-9AF6-17E9125823FD}"/>
              </a:ext>
            </a:extLst>
          </p:cNvPr>
          <p:cNvSpPr>
            <a:spLocks xmlns:a="http://schemas.openxmlformats.org/drawingml/2006/main" noGrp="1"/>
          </p:cNvSpPr>
          <p:nvPr/>
        </p:nvSpPr>
        <p:spPr>
          <a:xfrm xmlns:a="http://schemas.openxmlformats.org/drawingml/2006/main">
            <a:off x="685800" y="1762125"/>
            <a:ext cx="361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a:solidFill>
                  <a:srgbClr val="657377"/>
                </a:solidFill>
                <a:latin typeface="Arial"/>
                <a:ea typeface="Arial"/>
                <a:cs typeface="Arial"/>
              </a:defRPr>
            </a:pPr>
            <a:r>
              <a:rPr sz="1200" b="1">
                <a:solidFill>
                  <a:srgbClr val="657377"/>
                </a:solidFill>
                <a:latin typeface="Arial"/>
                <a:ea typeface="Arial"/>
                <a:cs typeface="Arial"/>
              </a:rPr>
              <a:t>EARLY DIRECTION</a:t>
            </a:r>
          </a:p>
        </p:txBody>
      </p:sp>
      <p:sp>
        <p:nvSpPr>
          <p:cNvPr id="6" name="">
            <a:extLst xmlns:a="http://schemas.openxmlformats.org/drawingml/2006/main">
              <a:ext uri="{FF2B5EF4-FFF2-40B4-BE49-F238E27FC236}">
                <a16:creationId xmlns:a16="http://schemas.microsoft.com/office/drawing/2014/main" id="{973B0FC1-D8CC-4ABE-AC36-FFB73D5AA7DE}"/>
              </a:ext>
            </a:extLst>
          </p:cNvPr>
          <p:cNvSpPr>
            <a:spLocks xmlns:a="http://schemas.openxmlformats.org/drawingml/2006/main" noGrp="1"/>
          </p:cNvSpPr>
          <p:nvPr/>
        </p:nvSpPr>
        <p:spPr>
          <a:xfrm xmlns:a="http://schemas.openxmlformats.org/drawingml/2006/main">
            <a:off x="5810250" y="176212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a:solidFill>
                  <a:srgbClr val="657377"/>
                </a:solidFill>
                <a:latin typeface="Arial"/>
                <a:ea typeface="Arial"/>
                <a:cs typeface="Arial"/>
              </a:defRPr>
            </a:pPr>
            <a:r>
              <a:rPr sz="1200" b="1">
                <a:solidFill>
                  <a:srgbClr val="657377"/>
                </a:solidFill>
                <a:latin typeface="Arial"/>
                <a:ea typeface="Arial"/>
                <a:cs typeface="Arial"/>
              </a:rPr>
              <a:t>FINAL CHOICE</a:t>
            </a:r>
          </a:p>
        </p:txBody>
      </p:sp>
      <p:sp>
        <p:nvSpPr>
          <p:cNvPr id="7" name="">
            <a:extLst xmlns:a="http://schemas.openxmlformats.org/drawingml/2006/main">
              <a:ext uri="{FF2B5EF4-FFF2-40B4-BE49-F238E27FC236}">
                <a16:creationId xmlns:a16="http://schemas.microsoft.com/office/drawing/2014/main" id="{A811EC85-A68D-4718-8D19-5BD9282A32C8}"/>
              </a:ext>
            </a:extLst>
          </p:cNvPr>
          <p:cNvSpPr>
            <a:spLocks xmlns:a="http://schemas.openxmlformats.org/drawingml/2006/main" noGrp="1"/>
          </p:cNvSpPr>
          <p:nvPr/>
        </p:nvSpPr>
        <p:spPr>
          <a:xfrm xmlns:a="http://schemas.openxmlformats.org/drawingml/2006/main">
            <a:off x="590550" y="2133600"/>
            <a:ext cx="1101090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9525">
            <a:solidFill>
              <a:srgbClr val="D8D2C6"/>
            </a:solidFill>
            <a:prstDash val="solid"/>
          </a:ln>
        </p:spPr>
      </p:sp>
      <p:sp>
        <p:nvSpPr>
          <p:cNvPr id="8" name="">
            <a:extLst xmlns:a="http://schemas.openxmlformats.org/drawingml/2006/main">
              <a:ext uri="{FF2B5EF4-FFF2-40B4-BE49-F238E27FC236}">
                <a16:creationId xmlns:a16="http://schemas.microsoft.com/office/drawing/2014/main" id="{366C60AF-4B28-442C-9207-936E0B095685}"/>
              </a:ext>
            </a:extLst>
          </p:cNvPr>
          <p:cNvSpPr>
            <a:spLocks xmlns:a="http://schemas.openxmlformats.org/drawingml/2006/main" noGrp="1"/>
          </p:cNvSpPr>
          <p:nvPr/>
        </p:nvSpPr>
        <p:spPr>
          <a:xfrm xmlns:a="http://schemas.openxmlformats.org/drawingml/2006/main">
            <a:off x="762000" y="2266950"/>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0">
                <a:solidFill>
                  <a:srgbClr val="172A33"/>
                </a:solidFill>
                <a:latin typeface="Arial"/>
                <a:ea typeface="Arial"/>
                <a:cs typeface="Arial"/>
              </a:defRPr>
            </a:pPr>
            <a:r>
              <a:rPr sz="1650" b="0">
                <a:solidFill>
                  <a:srgbClr val="172A33"/>
                </a:solidFill>
                <a:latin typeface="Arial"/>
                <a:ea typeface="Arial"/>
                <a:cs typeface="Arial"/>
              </a:rPr>
              <a:t>General LLM financial assistant</a:t>
            </a:r>
          </a:p>
        </p:txBody>
      </p:sp>
      <p:sp>
        <p:nvSpPr>
          <p:cNvPr id="9" name="">
            <a:extLst xmlns:a="http://schemas.openxmlformats.org/drawingml/2006/main">
              <a:ext uri="{FF2B5EF4-FFF2-40B4-BE49-F238E27FC236}">
                <a16:creationId xmlns:a16="http://schemas.microsoft.com/office/drawing/2014/main" id="{871DB273-5D38-46C4-9FA1-3C9566D860C4}"/>
              </a:ext>
            </a:extLst>
          </p:cNvPr>
          <p:cNvSpPr>
            <a:spLocks xmlns:a="http://schemas.openxmlformats.org/drawingml/2006/main" noGrp="1"/>
          </p:cNvSpPr>
          <p:nvPr/>
        </p:nvSpPr>
        <p:spPr>
          <a:xfrm xmlns:a="http://schemas.openxmlformats.org/drawingml/2006/main">
            <a:off x="5048250" y="22479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C76032"/>
                </a:solidFill>
                <a:latin typeface="Arial"/>
                <a:ea typeface="Arial"/>
                <a:cs typeface="Arial"/>
              </a:defRPr>
            </a:pPr>
            <a:r>
              <a:rPr sz="2100" b="1">
                <a:solidFill>
                  <a:srgbClr val="C7603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C0C0CFD4-1858-4CFC-8DCE-1CD35F2C77D0}"/>
              </a:ext>
            </a:extLst>
          </p:cNvPr>
          <p:cNvSpPr>
            <a:spLocks xmlns:a="http://schemas.openxmlformats.org/drawingml/2006/main" noGrp="1"/>
          </p:cNvSpPr>
          <p:nvPr/>
        </p:nvSpPr>
        <p:spPr>
          <a:xfrm xmlns:a="http://schemas.openxmlformats.org/drawingml/2006/main">
            <a:off x="5810250" y="226695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a:solidFill>
                  <a:srgbClr val="123F56"/>
                </a:solidFill>
                <a:latin typeface="Arial"/>
                <a:ea typeface="Arial"/>
                <a:cs typeface="Arial"/>
              </a:defRPr>
            </a:pPr>
            <a:r>
              <a:rPr sz="1650" b="1">
                <a:solidFill>
                  <a:srgbClr val="123F56"/>
                </a:solidFill>
                <a:latin typeface="Arial"/>
                <a:ea typeface="Arial"/>
                <a:cs typeface="Arial"/>
              </a:rPr>
              <a:t>Local interpretation with deterministic finance</a:t>
            </a:r>
          </a:p>
        </p:txBody>
      </p:sp>
      <p:sp>
        <p:nvSpPr>
          <p:cNvPr id="11" name="">
            <a:extLst xmlns:a="http://schemas.openxmlformats.org/drawingml/2006/main">
              <a:ext uri="{FF2B5EF4-FFF2-40B4-BE49-F238E27FC236}">
                <a16:creationId xmlns:a16="http://schemas.microsoft.com/office/drawing/2014/main" id="{23C3671E-33D8-4425-815E-E8D7BBAC479C}"/>
              </a:ext>
            </a:extLst>
          </p:cNvPr>
          <p:cNvSpPr>
            <a:spLocks xmlns:a="http://schemas.openxmlformats.org/drawingml/2006/main" noGrp="1"/>
          </p:cNvSpPr>
          <p:nvPr/>
        </p:nvSpPr>
        <p:spPr>
          <a:xfrm xmlns:a="http://schemas.openxmlformats.org/drawingml/2006/main">
            <a:off x="590550" y="2914650"/>
            <a:ext cx="11010900" cy="647700"/>
          </a:xfrm>
          <a:prstGeom xmlns:a="http://schemas.openxmlformats.org/drawingml/2006/main" prst="roundRect">
            <a:avLst>
              <a:gd name="adj" fmla="val 14706"/>
            </a:avLst>
          </a:prstGeom>
          <a:solidFill xmlns:a="http://schemas.openxmlformats.org/drawingml/2006/main">
            <a:srgbClr val="F8F5EE"/>
          </a:solidFill>
          <a:ln xmlns:a="http://schemas.openxmlformats.org/drawingml/2006/main" w="9525">
            <a:solidFill>
              <a:srgbClr val="D8D2C6"/>
            </a:solidFill>
            <a:prstDash val="solid"/>
          </a:ln>
        </p:spPr>
      </p:sp>
      <p:sp>
        <p:nvSpPr>
          <p:cNvPr id="12" name="">
            <a:extLst xmlns:a="http://schemas.openxmlformats.org/drawingml/2006/main">
              <a:ext uri="{FF2B5EF4-FFF2-40B4-BE49-F238E27FC236}">
                <a16:creationId xmlns:a16="http://schemas.microsoft.com/office/drawing/2014/main" id="{2F0B1F47-9BF5-4A88-A491-553D9F6D6032}"/>
              </a:ext>
            </a:extLst>
          </p:cNvPr>
          <p:cNvSpPr>
            <a:spLocks xmlns:a="http://schemas.openxmlformats.org/drawingml/2006/main" noGrp="1"/>
          </p:cNvSpPr>
          <p:nvPr/>
        </p:nvSpPr>
        <p:spPr>
          <a:xfrm xmlns:a="http://schemas.openxmlformats.org/drawingml/2006/main">
            <a:off x="762000" y="3048000"/>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0">
                <a:solidFill>
                  <a:srgbClr val="172A33"/>
                </a:solidFill>
                <a:latin typeface="Arial"/>
                <a:ea typeface="Arial"/>
                <a:cs typeface="Arial"/>
              </a:defRPr>
            </a:pPr>
            <a:r>
              <a:rPr sz="1650" b="0">
                <a:solidFill>
                  <a:srgbClr val="172A33"/>
                </a:solidFill>
                <a:latin typeface="Arial"/>
                <a:ea typeface="Arial"/>
                <a:cs typeface="Arial"/>
              </a:rPr>
              <a:t>One generic statement extractor</a:t>
            </a:r>
          </a:p>
        </p:txBody>
      </p:sp>
      <p:sp>
        <p:nvSpPr>
          <p:cNvPr id="13" name="">
            <a:extLst xmlns:a="http://schemas.openxmlformats.org/drawingml/2006/main">
              <a:ext uri="{FF2B5EF4-FFF2-40B4-BE49-F238E27FC236}">
                <a16:creationId xmlns:a16="http://schemas.microsoft.com/office/drawing/2014/main" id="{AE142B4D-FE63-461C-B8F2-39A43708F12F}"/>
              </a:ext>
            </a:extLst>
          </p:cNvPr>
          <p:cNvSpPr>
            <a:spLocks xmlns:a="http://schemas.openxmlformats.org/drawingml/2006/main" noGrp="1"/>
          </p:cNvSpPr>
          <p:nvPr/>
        </p:nvSpPr>
        <p:spPr>
          <a:xfrm xmlns:a="http://schemas.openxmlformats.org/drawingml/2006/main">
            <a:off x="5048250" y="302895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C76032"/>
                </a:solidFill>
                <a:latin typeface="Arial"/>
                <a:ea typeface="Arial"/>
                <a:cs typeface="Arial"/>
              </a:defRPr>
            </a:pPr>
            <a:r>
              <a:rPr sz="2100" b="1">
                <a:solidFill>
                  <a:srgbClr val="C76032"/>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B3A3FE49-0E99-4BE5-84DA-41ACF14CFB4E}"/>
              </a:ext>
            </a:extLst>
          </p:cNvPr>
          <p:cNvSpPr>
            <a:spLocks xmlns:a="http://schemas.openxmlformats.org/drawingml/2006/main" noGrp="1"/>
          </p:cNvSpPr>
          <p:nvPr/>
        </p:nvSpPr>
        <p:spPr>
          <a:xfrm xmlns:a="http://schemas.openxmlformats.org/drawingml/2006/main">
            <a:off x="5810250" y="304800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a:solidFill>
                  <a:srgbClr val="123F56"/>
                </a:solidFill>
                <a:latin typeface="Arial"/>
                <a:ea typeface="Arial"/>
                <a:cs typeface="Arial"/>
              </a:defRPr>
            </a:pPr>
            <a:r>
              <a:rPr sz="1650" b="1">
                <a:solidFill>
                  <a:srgbClr val="123F56"/>
                </a:solidFill>
                <a:latin typeface="Arial"/>
                <a:ea typeface="Arial"/>
                <a:cs typeface="Arial"/>
              </a:rPr>
              <a:t>Separate holdings, bank, and policy paths</a:t>
            </a:r>
          </a:p>
        </p:txBody>
      </p:sp>
      <p:sp>
        <p:nvSpPr>
          <p:cNvPr id="15" name="">
            <a:extLst xmlns:a="http://schemas.openxmlformats.org/drawingml/2006/main">
              <a:ext uri="{FF2B5EF4-FFF2-40B4-BE49-F238E27FC236}">
                <a16:creationId xmlns:a16="http://schemas.microsoft.com/office/drawing/2014/main" id="{39A7FB8F-6496-400D-AA6E-1D2668F9B32F}"/>
              </a:ext>
            </a:extLst>
          </p:cNvPr>
          <p:cNvSpPr>
            <a:spLocks xmlns:a="http://schemas.openxmlformats.org/drawingml/2006/main" noGrp="1"/>
          </p:cNvSpPr>
          <p:nvPr/>
        </p:nvSpPr>
        <p:spPr>
          <a:xfrm xmlns:a="http://schemas.openxmlformats.org/drawingml/2006/main">
            <a:off x="590550" y="3695700"/>
            <a:ext cx="1101090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9525">
            <a:solidFill>
              <a:srgbClr val="D8D2C6"/>
            </a:solidFill>
            <a:prstDash val="solid"/>
          </a:ln>
        </p:spPr>
      </p:sp>
      <p:sp>
        <p:nvSpPr>
          <p:cNvPr id="16" name="">
            <a:extLst xmlns:a="http://schemas.openxmlformats.org/drawingml/2006/main">
              <a:ext uri="{FF2B5EF4-FFF2-40B4-BE49-F238E27FC236}">
                <a16:creationId xmlns:a16="http://schemas.microsoft.com/office/drawing/2014/main" id="{733AEAD9-6B3C-4C9B-94DB-EA8EF62F9A6E}"/>
              </a:ext>
            </a:extLst>
          </p:cNvPr>
          <p:cNvSpPr>
            <a:spLocks xmlns:a="http://schemas.openxmlformats.org/drawingml/2006/main" noGrp="1"/>
          </p:cNvSpPr>
          <p:nvPr/>
        </p:nvSpPr>
        <p:spPr>
          <a:xfrm xmlns:a="http://schemas.openxmlformats.org/drawingml/2006/main">
            <a:off x="762000" y="3829050"/>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0">
                <a:solidFill>
                  <a:srgbClr val="172A33"/>
                </a:solidFill>
                <a:latin typeface="Arial"/>
                <a:ea typeface="Arial"/>
                <a:cs typeface="Arial"/>
              </a:defRPr>
            </a:pPr>
            <a:r>
              <a:rPr sz="1650" b="0">
                <a:solidFill>
                  <a:srgbClr val="172A33"/>
                </a:solidFill>
                <a:latin typeface="Arial"/>
                <a:ea typeface="Arial"/>
                <a:cs typeface="Arial"/>
              </a:rPr>
              <a:t>RAG for safety-critical policy rules</a:t>
            </a:r>
          </a:p>
        </p:txBody>
      </p:sp>
      <p:sp>
        <p:nvSpPr>
          <p:cNvPr id="17" name="">
            <a:extLst xmlns:a="http://schemas.openxmlformats.org/drawingml/2006/main">
              <a:ext uri="{FF2B5EF4-FFF2-40B4-BE49-F238E27FC236}">
                <a16:creationId xmlns:a16="http://schemas.microsoft.com/office/drawing/2014/main" id="{F3AE7244-BCA7-4F78-88AC-C128A4A356C9}"/>
              </a:ext>
            </a:extLst>
          </p:cNvPr>
          <p:cNvSpPr>
            <a:spLocks xmlns:a="http://schemas.openxmlformats.org/drawingml/2006/main" noGrp="1"/>
          </p:cNvSpPr>
          <p:nvPr/>
        </p:nvSpPr>
        <p:spPr>
          <a:xfrm xmlns:a="http://schemas.openxmlformats.org/drawingml/2006/main">
            <a:off x="5048250" y="38100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C76032"/>
                </a:solidFill>
                <a:latin typeface="Arial"/>
                <a:ea typeface="Arial"/>
                <a:cs typeface="Arial"/>
              </a:defRPr>
            </a:pPr>
            <a:r>
              <a:rPr sz="2100" b="1">
                <a:solidFill>
                  <a:srgbClr val="C7603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12C66918-5C03-4E90-A907-9B3D1EAB9B54}"/>
              </a:ext>
            </a:extLst>
          </p:cNvPr>
          <p:cNvSpPr>
            <a:spLocks xmlns:a="http://schemas.openxmlformats.org/drawingml/2006/main" noGrp="1"/>
          </p:cNvSpPr>
          <p:nvPr/>
        </p:nvSpPr>
        <p:spPr>
          <a:xfrm xmlns:a="http://schemas.openxmlformats.org/drawingml/2006/main">
            <a:off x="5810250" y="382905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a:solidFill>
                  <a:srgbClr val="123F56"/>
                </a:solidFill>
                <a:latin typeface="Arial"/>
                <a:ea typeface="Arial"/>
                <a:cs typeface="Arial"/>
              </a:defRPr>
            </a:pPr>
            <a:r>
              <a:rPr sz="1650" b="1">
                <a:solidFill>
                  <a:srgbClr val="123F56"/>
                </a:solidFill>
                <a:latin typeface="Arial"/>
                <a:ea typeface="Arial"/>
                <a:cs typeface="Arial"/>
              </a:rPr>
              <a:t>Small versioned rule set; retrieval deferred</a:t>
            </a:r>
          </a:p>
        </p:txBody>
      </p:sp>
      <p:sp>
        <p:nvSpPr>
          <p:cNvPr id="19" name="">
            <a:extLst xmlns:a="http://schemas.openxmlformats.org/drawingml/2006/main">
              <a:ext uri="{FF2B5EF4-FFF2-40B4-BE49-F238E27FC236}">
                <a16:creationId xmlns:a16="http://schemas.microsoft.com/office/drawing/2014/main" id="{2A1BB331-864B-4136-8676-AB00BE7CA42B}"/>
              </a:ext>
            </a:extLst>
          </p:cNvPr>
          <p:cNvSpPr>
            <a:spLocks xmlns:a="http://schemas.openxmlformats.org/drawingml/2006/main" noGrp="1"/>
          </p:cNvSpPr>
          <p:nvPr/>
        </p:nvSpPr>
        <p:spPr>
          <a:xfrm xmlns:a="http://schemas.openxmlformats.org/drawingml/2006/main">
            <a:off x="590550" y="4476750"/>
            <a:ext cx="11010900" cy="647700"/>
          </a:xfrm>
          <a:prstGeom xmlns:a="http://schemas.openxmlformats.org/drawingml/2006/main" prst="roundRect">
            <a:avLst>
              <a:gd name="adj" fmla="val 14706"/>
            </a:avLst>
          </a:prstGeom>
          <a:solidFill xmlns:a="http://schemas.openxmlformats.org/drawingml/2006/main">
            <a:srgbClr val="F8F5EE"/>
          </a:solidFill>
          <a:ln xmlns:a="http://schemas.openxmlformats.org/drawingml/2006/main" w="9525">
            <a:solidFill>
              <a:srgbClr val="D8D2C6"/>
            </a:solidFill>
            <a:prstDash val="solid"/>
          </a:ln>
        </p:spPr>
      </p:sp>
      <p:sp>
        <p:nvSpPr>
          <p:cNvPr id="20" name="">
            <a:extLst xmlns:a="http://schemas.openxmlformats.org/drawingml/2006/main">
              <a:ext uri="{FF2B5EF4-FFF2-40B4-BE49-F238E27FC236}">
                <a16:creationId xmlns:a16="http://schemas.microsoft.com/office/drawing/2014/main" id="{38CA8E8A-3DE4-4147-ABF0-CA0249A3ED93}"/>
              </a:ext>
            </a:extLst>
          </p:cNvPr>
          <p:cNvSpPr>
            <a:spLocks xmlns:a="http://schemas.openxmlformats.org/drawingml/2006/main" noGrp="1"/>
          </p:cNvSpPr>
          <p:nvPr/>
        </p:nvSpPr>
        <p:spPr>
          <a:xfrm xmlns:a="http://schemas.openxmlformats.org/drawingml/2006/main">
            <a:off x="762000" y="4610100"/>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0">
                <a:solidFill>
                  <a:srgbClr val="172A33"/>
                </a:solidFill>
                <a:latin typeface="Arial"/>
                <a:ea typeface="Arial"/>
                <a:cs typeface="Arial"/>
              </a:defRPr>
            </a:pPr>
            <a:r>
              <a:rPr sz="1650" b="0">
                <a:solidFill>
                  <a:srgbClr val="172A33"/>
                </a:solidFill>
                <a:latin typeface="Arial"/>
                <a:ea typeface="Arial"/>
                <a:cs typeface="Arial"/>
              </a:rPr>
              <a:t>Full Tree of Thought and CrewAI</a:t>
            </a:r>
          </a:p>
        </p:txBody>
      </p:sp>
      <p:sp>
        <p:nvSpPr>
          <p:cNvPr id="21" name="">
            <a:extLst xmlns:a="http://schemas.openxmlformats.org/drawingml/2006/main">
              <a:ext uri="{FF2B5EF4-FFF2-40B4-BE49-F238E27FC236}">
                <a16:creationId xmlns:a16="http://schemas.microsoft.com/office/drawing/2014/main" id="{79EA91C5-335D-434C-9528-CE1D3D8BA5F7}"/>
              </a:ext>
            </a:extLst>
          </p:cNvPr>
          <p:cNvSpPr>
            <a:spLocks xmlns:a="http://schemas.openxmlformats.org/drawingml/2006/main" noGrp="1"/>
          </p:cNvSpPr>
          <p:nvPr/>
        </p:nvSpPr>
        <p:spPr>
          <a:xfrm xmlns:a="http://schemas.openxmlformats.org/drawingml/2006/main">
            <a:off x="5048250" y="459105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C76032"/>
                </a:solidFill>
                <a:latin typeface="Arial"/>
                <a:ea typeface="Arial"/>
                <a:cs typeface="Arial"/>
              </a:defRPr>
            </a:pPr>
            <a:r>
              <a:rPr sz="2100" b="1">
                <a:solidFill>
                  <a:srgbClr val="C76032"/>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5E8D116C-9ABD-4BD9-AB0E-B6206F92E55A}"/>
              </a:ext>
            </a:extLst>
          </p:cNvPr>
          <p:cNvSpPr>
            <a:spLocks xmlns:a="http://schemas.openxmlformats.org/drawingml/2006/main" noGrp="1"/>
          </p:cNvSpPr>
          <p:nvPr/>
        </p:nvSpPr>
        <p:spPr>
          <a:xfrm xmlns:a="http://schemas.openxmlformats.org/drawingml/2006/main">
            <a:off x="5810250" y="461010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a:solidFill>
                  <a:srgbClr val="123F56"/>
                </a:solidFill>
                <a:latin typeface="Arial"/>
                <a:ea typeface="Arial"/>
                <a:cs typeface="Arial"/>
              </a:defRPr>
            </a:pPr>
            <a:r>
              <a:rPr sz="1650" b="1">
                <a:solidFill>
                  <a:srgbClr val="123F56"/>
                </a:solidFill>
                <a:latin typeface="Arial"/>
                <a:ea typeface="Arial"/>
                <a:cs typeface="Arial"/>
              </a:rPr>
              <a:t>Bounded hypotheses inside LangGraph</a:t>
            </a:r>
          </a:p>
        </p:txBody>
      </p:sp>
      <p:sp>
        <p:nvSpPr>
          <p:cNvPr id="23" name="">
            <a:extLst xmlns:a="http://schemas.openxmlformats.org/drawingml/2006/main">
              <a:ext uri="{FF2B5EF4-FFF2-40B4-BE49-F238E27FC236}">
                <a16:creationId xmlns:a16="http://schemas.microsoft.com/office/drawing/2014/main" id="{0A714932-4D88-4030-9BA0-E587D8AA25BE}"/>
              </a:ext>
            </a:extLst>
          </p:cNvPr>
          <p:cNvSpPr>
            <a:spLocks xmlns:a="http://schemas.openxmlformats.org/drawingml/2006/main" noGrp="1"/>
          </p:cNvSpPr>
          <p:nvPr/>
        </p:nvSpPr>
        <p:spPr>
          <a:xfrm xmlns:a="http://schemas.openxmlformats.org/drawingml/2006/main">
            <a:off x="590550" y="5257800"/>
            <a:ext cx="11010900" cy="647700"/>
          </a:xfrm>
          <a:prstGeom xmlns:a="http://schemas.openxmlformats.org/drawingml/2006/main" prst="roundRect">
            <a:avLst>
              <a:gd name="adj" fmla="val 14706"/>
            </a:avLst>
          </a:prstGeom>
          <a:solidFill xmlns:a="http://schemas.openxmlformats.org/drawingml/2006/main">
            <a:srgbClr val="FFFFFF"/>
          </a:solidFill>
          <a:ln xmlns:a="http://schemas.openxmlformats.org/drawingml/2006/main" w="9525">
            <a:solidFill>
              <a:srgbClr val="D8D2C6"/>
            </a:solidFill>
            <a:prstDash val="solid"/>
          </a:ln>
        </p:spPr>
      </p:sp>
      <p:sp>
        <p:nvSpPr>
          <p:cNvPr id="24" name="">
            <a:extLst xmlns:a="http://schemas.openxmlformats.org/drawingml/2006/main">
              <a:ext uri="{FF2B5EF4-FFF2-40B4-BE49-F238E27FC236}">
                <a16:creationId xmlns:a16="http://schemas.microsoft.com/office/drawing/2014/main" id="{B957A7E7-C3D3-4FF0-A30B-568DEE136E0E}"/>
              </a:ext>
            </a:extLst>
          </p:cNvPr>
          <p:cNvSpPr>
            <a:spLocks xmlns:a="http://schemas.openxmlformats.org/drawingml/2006/main" noGrp="1"/>
          </p:cNvSpPr>
          <p:nvPr/>
        </p:nvSpPr>
        <p:spPr>
          <a:xfrm xmlns:a="http://schemas.openxmlformats.org/drawingml/2006/main">
            <a:off x="762000" y="5391150"/>
            <a:ext cx="4171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0">
                <a:solidFill>
                  <a:srgbClr val="172A33"/>
                </a:solidFill>
                <a:latin typeface="Arial"/>
                <a:ea typeface="Arial"/>
                <a:cs typeface="Arial"/>
              </a:defRPr>
            </a:pPr>
            <a:r>
              <a:rPr sz="1650" b="0">
                <a:solidFill>
                  <a:srgbClr val="172A33"/>
                </a:solidFill>
                <a:latin typeface="Arial"/>
                <a:ea typeface="Arial"/>
                <a:cs typeface="Arial"/>
              </a:rPr>
              <a:t>Five broad agents</a:t>
            </a:r>
          </a:p>
        </p:txBody>
      </p:sp>
      <p:sp>
        <p:nvSpPr>
          <p:cNvPr id="25" name="">
            <a:extLst xmlns:a="http://schemas.openxmlformats.org/drawingml/2006/main">
              <a:ext uri="{FF2B5EF4-FFF2-40B4-BE49-F238E27FC236}">
                <a16:creationId xmlns:a16="http://schemas.microsoft.com/office/drawing/2014/main" id="{78FA2EAE-B14E-4CB3-BDD4-303F318A0AE8}"/>
              </a:ext>
            </a:extLst>
          </p:cNvPr>
          <p:cNvSpPr>
            <a:spLocks xmlns:a="http://schemas.openxmlformats.org/drawingml/2006/main" noGrp="1"/>
          </p:cNvSpPr>
          <p:nvPr/>
        </p:nvSpPr>
        <p:spPr>
          <a:xfrm xmlns:a="http://schemas.openxmlformats.org/drawingml/2006/main">
            <a:off x="5048250" y="53721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C76032"/>
                </a:solidFill>
                <a:latin typeface="Arial"/>
                <a:ea typeface="Arial"/>
                <a:cs typeface="Arial"/>
              </a:defRPr>
            </a:pPr>
            <a:r>
              <a:rPr sz="2100" b="1">
                <a:solidFill>
                  <a:srgbClr val="C76032"/>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66300828-3D36-4F7F-A2BD-911C9417F5E8}"/>
              </a:ext>
            </a:extLst>
          </p:cNvPr>
          <p:cNvSpPr>
            <a:spLocks xmlns:a="http://schemas.openxmlformats.org/drawingml/2006/main" noGrp="1"/>
          </p:cNvSpPr>
          <p:nvPr/>
        </p:nvSpPr>
        <p:spPr>
          <a:xfrm xmlns:a="http://schemas.openxmlformats.org/drawingml/2006/main">
            <a:off x="5810250" y="539115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a:solidFill>
                  <a:srgbClr val="123F56"/>
                </a:solidFill>
                <a:latin typeface="Arial"/>
                <a:ea typeface="Arial"/>
                <a:cs typeface="Arial"/>
              </a:defRPr>
            </a:pPr>
            <a:r>
              <a:rPr sz="1650" b="1">
                <a:solidFill>
                  <a:srgbClr val="123F56"/>
                </a:solidFill>
                <a:latin typeface="Arial"/>
                <a:ea typeface="Arial"/>
                <a:cs typeface="Arial"/>
              </a:rPr>
              <a:t>Fewer active roles with limited permissions</a:t>
            </a:r>
          </a:p>
        </p:txBody>
      </p:sp>
      <p:sp>
        <p:nvSpPr>
          <p:cNvPr id="27" name="">
            <a:extLst xmlns:a="http://schemas.openxmlformats.org/drawingml/2006/main">
              <a:ext uri="{FF2B5EF4-FFF2-40B4-BE49-F238E27FC236}">
                <a16:creationId xmlns:a16="http://schemas.microsoft.com/office/drawing/2014/main" id="{39BF58A4-F625-46B9-A207-9967D8B935D4}"/>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8FABEC9-2D18-43E3-B411-2A5F72A6AC6E}"/>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Architecture decisions recorded in DESIGN_EVOLUTION.md</a:t>
            </a:r>
          </a:p>
        </p:txBody>
      </p:sp>
    </p:spTree>
    <p:extLst>
      <p:ext uri="{BB962C8B-B14F-4D97-AF65-F5344CB8AC3E}">
        <p14:creationId xmlns:p14="http://schemas.microsoft.com/office/powerpoint/2010/main" val="1931599404"/>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36AE693-1033-4A32-9E1B-CA0C036C93A7}"/>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C3A351-361F-4BDE-9EB8-0C0082019209}"/>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Six synthetic documents reveal more than net worth</a:t>
            </a:r>
          </a:p>
        </p:txBody>
      </p:sp>
      <p:sp>
        <p:nvSpPr>
          <p:cNvPr id="3" name="">
            <a:extLst xmlns:a="http://schemas.openxmlformats.org/drawingml/2006/main">
              <a:ext uri="{FF2B5EF4-FFF2-40B4-BE49-F238E27FC236}">
                <a16:creationId xmlns:a16="http://schemas.microsoft.com/office/drawing/2014/main" id="{9A970421-4F64-454D-AFE6-BC787944874D}"/>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Live demo uses only reproducible synthetic data</a:t>
            </a:r>
          </a:p>
        </p:txBody>
      </p:sp>
      <p:sp>
        <p:nvSpPr>
          <p:cNvPr id="4" name="">
            <a:extLst xmlns:a="http://schemas.openxmlformats.org/drawingml/2006/main">
              <a:ext uri="{FF2B5EF4-FFF2-40B4-BE49-F238E27FC236}">
                <a16:creationId xmlns:a16="http://schemas.microsoft.com/office/drawing/2014/main" id="{B6494A50-21D3-42D7-9233-4493E5FCF861}"/>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07</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95f19d9e039400c"/>
          <a:stretch xmlns:a="http://schemas.openxmlformats.org/drawingml/2006/main"/>
        </p:blipFill>
        <p:spPr>
          <a:xfrm xmlns:a="http://schemas.openxmlformats.org/drawingml/2006/main">
            <a:off x="459317" y="1733550"/>
            <a:ext cx="7806267" cy="4391025"/>
          </a:xfrm>
          <a:prstGeom xmlns:a="http://schemas.openxmlformats.org/drawingml/2006/main" prst="roundRect">
            <a:avLst>
              <a:gd name="adj" fmla="val 2603"/>
            </a:avLst>
          </a:prstGeom>
        </p:spPr>
      </p:pic>
      <p:sp>
        <p:nvSpPr>
          <p:cNvPr id="6" name="">
            <a:extLst xmlns:a="http://schemas.openxmlformats.org/drawingml/2006/main">
              <a:ext uri="{FF2B5EF4-FFF2-40B4-BE49-F238E27FC236}">
                <a16:creationId xmlns:a16="http://schemas.microsoft.com/office/drawing/2014/main" id="{FE264714-5B80-499E-8B87-2CECDC82D2A6}"/>
              </a:ext>
            </a:extLst>
          </p:cNvPr>
          <p:cNvSpPr>
            <a:spLocks xmlns:a="http://schemas.openxmlformats.org/drawingml/2006/main" noGrp="1"/>
          </p:cNvSpPr>
          <p:nvPr/>
        </p:nvSpPr>
        <p:spPr>
          <a:xfrm xmlns:a="http://schemas.openxmlformats.org/drawingml/2006/main">
            <a:off x="8629650" y="17716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C76032"/>
                </a:solidFill>
                <a:latin typeface="Arial"/>
                <a:ea typeface="Arial"/>
                <a:cs typeface="Arial"/>
              </a:defRPr>
            </a:pPr>
            <a:r>
              <a:rPr sz="1125" b="1">
                <a:solidFill>
                  <a:srgbClr val="C76032"/>
                </a:solidFill>
                <a:latin typeface="Arial"/>
                <a:ea typeface="Arial"/>
                <a:cs typeface="Arial"/>
              </a:rPr>
              <a:t>DEMO BASELINE</a:t>
            </a:r>
          </a:p>
        </p:txBody>
      </p:sp>
      <p:sp>
        <p:nvSpPr>
          <p:cNvPr id="7" name="">
            <a:extLst xmlns:a="http://schemas.openxmlformats.org/drawingml/2006/main">
              <a:ext uri="{FF2B5EF4-FFF2-40B4-BE49-F238E27FC236}">
                <a16:creationId xmlns:a16="http://schemas.microsoft.com/office/drawing/2014/main" id="{23782901-43C5-410F-BE32-7931B4CEB388}"/>
              </a:ext>
            </a:extLst>
          </p:cNvPr>
          <p:cNvSpPr>
            <a:spLocks xmlns:a="http://schemas.openxmlformats.org/drawingml/2006/main" noGrp="1"/>
          </p:cNvSpPr>
          <p:nvPr/>
        </p:nvSpPr>
        <p:spPr>
          <a:xfrm xmlns:a="http://schemas.openxmlformats.org/drawingml/2006/main">
            <a:off x="8629650" y="2171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700" b="1">
                <a:solidFill>
                  <a:srgbClr val="123F56"/>
                </a:solidFill>
                <a:latin typeface="Arial"/>
                <a:ea typeface="Arial"/>
                <a:cs typeface="Arial"/>
              </a:defRPr>
            </a:pPr>
            <a:r>
              <a:rPr sz="2700" b="1">
                <a:solidFill>
                  <a:srgbClr val="123F56"/>
                </a:solidFill>
                <a:latin typeface="Arial"/>
                <a:ea typeface="Arial"/>
                <a:cs typeface="Arial"/>
              </a:rPr>
              <a:t>$275,488.50</a:t>
            </a:r>
          </a:p>
        </p:txBody>
      </p:sp>
      <p:sp>
        <p:nvSpPr>
          <p:cNvPr id="8" name="">
            <a:extLst xmlns:a="http://schemas.openxmlformats.org/drawingml/2006/main">
              <a:ext uri="{FF2B5EF4-FFF2-40B4-BE49-F238E27FC236}">
                <a16:creationId xmlns:a16="http://schemas.microsoft.com/office/drawing/2014/main" id="{18417397-C9C2-41EA-9C07-B0AE930E3AA6}"/>
              </a:ext>
            </a:extLst>
          </p:cNvPr>
          <p:cNvSpPr>
            <a:spLocks xmlns:a="http://schemas.openxmlformats.org/drawingml/2006/main" noGrp="1"/>
          </p:cNvSpPr>
          <p:nvPr/>
        </p:nvSpPr>
        <p:spPr>
          <a:xfrm xmlns:a="http://schemas.openxmlformats.org/drawingml/2006/main">
            <a:off x="8648700" y="25908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657377"/>
                </a:solidFill>
                <a:latin typeface="Arial"/>
                <a:ea typeface="Arial"/>
                <a:cs typeface="Arial"/>
              </a:defRPr>
            </a:pPr>
            <a:r>
              <a:rPr sz="1275" b="0">
                <a:solidFill>
                  <a:srgbClr val="657377"/>
                </a:solidFill>
                <a:latin typeface="Arial"/>
                <a:ea typeface="Arial"/>
                <a:cs typeface="Arial"/>
              </a:rPr>
              <a:t>Net worth</a:t>
            </a:r>
          </a:p>
        </p:txBody>
      </p:sp>
      <p:sp>
        <p:nvSpPr>
          <p:cNvPr id="9" name="">
            <a:extLst xmlns:a="http://schemas.openxmlformats.org/drawingml/2006/main">
              <a:ext uri="{FF2B5EF4-FFF2-40B4-BE49-F238E27FC236}">
                <a16:creationId xmlns:a16="http://schemas.microsoft.com/office/drawing/2014/main" id="{2EBD1396-ED5A-47C2-98E3-17289DD906FF}"/>
              </a:ext>
            </a:extLst>
          </p:cNvPr>
          <p:cNvSpPr>
            <a:spLocks xmlns:a="http://schemas.openxmlformats.org/drawingml/2006/main" noGrp="1"/>
          </p:cNvSpPr>
          <p:nvPr/>
        </p:nvSpPr>
        <p:spPr>
          <a:xfrm xmlns:a="http://schemas.openxmlformats.org/drawingml/2006/main">
            <a:off x="8629650" y="30670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700" b="1">
                <a:solidFill>
                  <a:srgbClr val="123F56"/>
                </a:solidFill>
                <a:latin typeface="Arial"/>
                <a:ea typeface="Arial"/>
                <a:cs typeface="Arial"/>
              </a:defRPr>
            </a:pPr>
            <a:r>
              <a:rPr sz="2700" b="1">
                <a:solidFill>
                  <a:srgbClr val="123F56"/>
                </a:solidFill>
                <a:latin typeface="Arial"/>
                <a:ea typeface="Arial"/>
                <a:cs typeface="Arial"/>
              </a:rPr>
              <a:t>43.21%</a:t>
            </a:r>
          </a:p>
        </p:txBody>
      </p:sp>
      <p:sp>
        <p:nvSpPr>
          <p:cNvPr id="10" name="">
            <a:extLst xmlns:a="http://schemas.openxmlformats.org/drawingml/2006/main">
              <a:ext uri="{FF2B5EF4-FFF2-40B4-BE49-F238E27FC236}">
                <a16:creationId xmlns:a16="http://schemas.microsoft.com/office/drawing/2014/main" id="{6F6FD407-3BC7-4333-8B06-E52233267775}"/>
              </a:ext>
            </a:extLst>
          </p:cNvPr>
          <p:cNvSpPr>
            <a:spLocks xmlns:a="http://schemas.openxmlformats.org/drawingml/2006/main" noGrp="1"/>
          </p:cNvSpPr>
          <p:nvPr/>
        </p:nvSpPr>
        <p:spPr>
          <a:xfrm xmlns:a="http://schemas.openxmlformats.org/drawingml/2006/main">
            <a:off x="8648700" y="34861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657377"/>
                </a:solidFill>
                <a:latin typeface="Arial"/>
                <a:ea typeface="Arial"/>
                <a:cs typeface="Arial"/>
              </a:defRPr>
            </a:pPr>
            <a:r>
              <a:rPr sz="1275" b="0">
                <a:solidFill>
                  <a:srgbClr val="657377"/>
                </a:solidFill>
                <a:latin typeface="Arial"/>
                <a:ea typeface="Arial"/>
                <a:cs typeface="Arial"/>
              </a:rPr>
              <a:t>Document-backed ROI</a:t>
            </a:r>
          </a:p>
        </p:txBody>
      </p:sp>
      <p:sp>
        <p:nvSpPr>
          <p:cNvPr id="11" name="">
            <a:extLst xmlns:a="http://schemas.openxmlformats.org/drawingml/2006/main">
              <a:ext uri="{FF2B5EF4-FFF2-40B4-BE49-F238E27FC236}">
                <a16:creationId xmlns:a16="http://schemas.microsoft.com/office/drawing/2014/main" id="{5BE5C0BA-A8EF-407D-9D5C-B911B7176383}"/>
              </a:ext>
            </a:extLst>
          </p:cNvPr>
          <p:cNvSpPr>
            <a:spLocks xmlns:a="http://schemas.openxmlformats.org/drawingml/2006/main" noGrp="1"/>
          </p:cNvSpPr>
          <p:nvPr/>
        </p:nvSpPr>
        <p:spPr>
          <a:xfrm xmlns:a="http://schemas.openxmlformats.org/drawingml/2006/main">
            <a:off x="8629650" y="39624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700" b="1">
                <a:solidFill>
                  <a:srgbClr val="A63E32"/>
                </a:solidFill>
                <a:latin typeface="Arial"/>
                <a:ea typeface="Arial"/>
                <a:cs typeface="Arial"/>
              </a:defRPr>
            </a:pPr>
            <a:r>
              <a:rPr sz="2700" b="1">
                <a:solidFill>
                  <a:srgbClr val="A63E32"/>
                </a:solidFill>
                <a:latin typeface="Arial"/>
                <a:ea typeface="Arial"/>
                <a:cs typeface="Arial"/>
              </a:rPr>
              <a:t>37 / 100</a:t>
            </a:r>
          </a:p>
        </p:txBody>
      </p:sp>
      <p:sp>
        <p:nvSpPr>
          <p:cNvPr id="12" name="">
            <a:extLst xmlns:a="http://schemas.openxmlformats.org/drawingml/2006/main">
              <a:ext uri="{FF2B5EF4-FFF2-40B4-BE49-F238E27FC236}">
                <a16:creationId xmlns:a16="http://schemas.microsoft.com/office/drawing/2014/main" id="{9FC31E80-E644-4A47-A072-131A2EC21A2A}"/>
              </a:ext>
            </a:extLst>
          </p:cNvPr>
          <p:cNvSpPr>
            <a:spLocks xmlns:a="http://schemas.openxmlformats.org/drawingml/2006/main" noGrp="1"/>
          </p:cNvSpPr>
          <p:nvPr/>
        </p:nvSpPr>
        <p:spPr>
          <a:xfrm xmlns:a="http://schemas.openxmlformats.org/drawingml/2006/main">
            <a:off x="8648700" y="43815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657377"/>
                </a:solidFill>
                <a:latin typeface="Arial"/>
                <a:ea typeface="Arial"/>
                <a:cs typeface="Arial"/>
              </a:defRPr>
            </a:pPr>
            <a:r>
              <a:rPr sz="1275" b="0">
                <a:solidFill>
                  <a:srgbClr val="657377"/>
                </a:solidFill>
                <a:latin typeface="Arial"/>
                <a:ea typeface="Arial"/>
                <a:cs typeface="Arial"/>
              </a:rPr>
              <a:t>Health score</a:t>
            </a:r>
          </a:p>
        </p:txBody>
      </p:sp>
      <p:sp>
        <p:nvSpPr>
          <p:cNvPr id="13" name="">
            <a:extLst xmlns:a="http://schemas.openxmlformats.org/drawingml/2006/main">
              <a:ext uri="{FF2B5EF4-FFF2-40B4-BE49-F238E27FC236}">
                <a16:creationId xmlns:a16="http://schemas.microsoft.com/office/drawing/2014/main" id="{61D6FD99-227E-405C-B914-F4402AE374EA}"/>
              </a:ext>
            </a:extLst>
          </p:cNvPr>
          <p:cNvSpPr>
            <a:spLocks xmlns:a="http://schemas.openxmlformats.org/drawingml/2006/main" noGrp="1"/>
          </p:cNvSpPr>
          <p:nvPr/>
        </p:nvSpPr>
        <p:spPr>
          <a:xfrm xmlns:a="http://schemas.openxmlformats.org/drawingml/2006/main">
            <a:off x="8629650" y="4857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400" b="1">
                <a:solidFill>
                  <a:srgbClr val="123F56"/>
                </a:solidFill>
                <a:latin typeface="Arial"/>
                <a:ea typeface="Arial"/>
                <a:cs typeface="Arial"/>
              </a:defRPr>
            </a:pPr>
            <a:r>
              <a:rPr sz="2400" b="1">
                <a:solidFill>
                  <a:srgbClr val="123F56"/>
                </a:solidFill>
                <a:latin typeface="Arial"/>
                <a:ea typeface="Arial"/>
                <a:cs typeface="Arial"/>
              </a:rPr>
              <a:t>1 gap</a:t>
            </a:r>
          </a:p>
        </p:txBody>
      </p:sp>
      <p:sp>
        <p:nvSpPr>
          <p:cNvPr id="14" name="">
            <a:extLst xmlns:a="http://schemas.openxmlformats.org/drawingml/2006/main">
              <a:ext uri="{FF2B5EF4-FFF2-40B4-BE49-F238E27FC236}">
                <a16:creationId xmlns:a16="http://schemas.microsoft.com/office/drawing/2014/main" id="{0CC339A0-F08E-406D-B244-4CC51B76DF00}"/>
              </a:ext>
            </a:extLst>
          </p:cNvPr>
          <p:cNvSpPr>
            <a:spLocks xmlns:a="http://schemas.openxmlformats.org/drawingml/2006/main" noGrp="1"/>
          </p:cNvSpPr>
          <p:nvPr/>
        </p:nvSpPr>
        <p:spPr>
          <a:xfrm xmlns:a="http://schemas.openxmlformats.org/drawingml/2006/main">
            <a:off x="8648700" y="52768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657377"/>
                </a:solidFill>
                <a:latin typeface="Arial"/>
                <a:ea typeface="Arial"/>
                <a:cs typeface="Arial"/>
              </a:defRPr>
            </a:pPr>
            <a:r>
              <a:rPr sz="1275" b="0">
                <a:solidFill>
                  <a:srgbClr val="657377"/>
                </a:solidFill>
                <a:latin typeface="Arial"/>
                <a:ea typeface="Arial"/>
                <a:cs typeface="Arial"/>
              </a:rPr>
              <a:t>LIC current value remains unknown</a:t>
            </a:r>
          </a:p>
        </p:txBody>
      </p:sp>
      <p:sp>
        <p:nvSpPr>
          <p:cNvPr id="15" name="">
            <a:extLst xmlns:a="http://schemas.openxmlformats.org/drawingml/2006/main">
              <a:ext uri="{FF2B5EF4-FFF2-40B4-BE49-F238E27FC236}">
                <a16:creationId xmlns:a16="http://schemas.microsoft.com/office/drawing/2014/main" id="{3339B487-EC4F-42F6-AC6D-5AD87E8E740D}"/>
              </a:ext>
            </a:extLst>
          </p:cNvPr>
          <p:cNvSpPr>
            <a:spLocks xmlns:a="http://schemas.openxmlformats.org/drawingml/2006/main" noGrp="1"/>
          </p:cNvSpPr>
          <p:nvPr/>
        </p:nvSpPr>
        <p:spPr>
          <a:xfrm xmlns:a="http://schemas.openxmlformats.org/drawingml/2006/main">
            <a:off x="8629650" y="5867400"/>
            <a:ext cx="280035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49425B6-E298-411A-983B-DFE30DDA7D7F}"/>
              </a:ext>
            </a:extLst>
          </p:cNvPr>
          <p:cNvSpPr>
            <a:spLocks xmlns:a="http://schemas.openxmlformats.org/drawingml/2006/main" noGrp="1"/>
          </p:cNvSpPr>
          <p:nvPr/>
        </p:nvSpPr>
        <p:spPr>
          <a:xfrm xmlns:a="http://schemas.openxmlformats.org/drawingml/2006/main">
            <a:off x="8629650" y="6000750"/>
            <a:ext cx="2800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a:solidFill>
                  <a:srgbClr val="C76032"/>
                </a:solidFill>
                <a:latin typeface="Arial"/>
                <a:ea typeface="Arial"/>
                <a:cs typeface="Arial"/>
              </a:defRPr>
            </a:pPr>
            <a:r>
              <a:rPr sz="1200" b="1">
                <a:solidFill>
                  <a:srgbClr val="C76032"/>
                </a:solidFill>
                <a:latin typeface="Arial"/>
                <a:ea typeface="Arial"/>
                <a:cs typeface="Arial"/>
              </a:rPr>
              <a:t>Deactivate fidelity_brokerage.pdf</a:t>
            </a:r>
          </a:p>
        </p:txBody>
      </p:sp>
      <p:sp>
        <p:nvSpPr>
          <p:cNvPr id="17" name="">
            <a:extLst xmlns:a="http://schemas.openxmlformats.org/drawingml/2006/main">
              <a:ext uri="{FF2B5EF4-FFF2-40B4-BE49-F238E27FC236}">
                <a16:creationId xmlns:a16="http://schemas.microsoft.com/office/drawing/2014/main" id="{85EAC6E1-7EEC-4BF9-87B5-B9E28EFA75D6}"/>
              </a:ext>
            </a:extLst>
          </p:cNvPr>
          <p:cNvSpPr>
            <a:spLocks xmlns:a="http://schemas.openxmlformats.org/drawingml/2006/main" noGrp="1"/>
          </p:cNvSpPr>
          <p:nvPr/>
        </p:nvSpPr>
        <p:spPr>
          <a:xfrm xmlns:a="http://schemas.openxmlformats.org/drawingml/2006/main">
            <a:off x="8629650" y="621982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172A33"/>
                </a:solidFill>
                <a:latin typeface="Arial"/>
                <a:ea typeface="Arial"/>
                <a:cs typeface="Arial"/>
              </a:defRPr>
            </a:pPr>
            <a:r>
              <a:rPr sz="1350" b="1">
                <a:solidFill>
                  <a:srgbClr val="172A33"/>
                </a:solidFill>
                <a:latin typeface="Arial"/>
                <a:ea typeface="Arial"/>
                <a:cs typeface="Arial"/>
              </a:rPr>
              <a:t>$275,488.50  →  $125,488.50</a:t>
            </a:r>
          </a:p>
        </p:txBody>
      </p:sp>
    </p:spTree>
    <p:extLst>
      <p:ext uri="{BB962C8B-B14F-4D97-AF65-F5344CB8AC3E}">
        <p14:creationId xmlns:p14="http://schemas.microsoft.com/office/powerpoint/2010/main" val="365257021"/>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DF1CF0D-249E-455E-B9DC-F118BC64EC28}"/>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3D61BD-94A4-4ED6-A3DB-2BC3CE034A27}"/>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The portfolio needs attention for different reasons</a:t>
            </a:r>
          </a:p>
        </p:txBody>
      </p:sp>
      <p:sp>
        <p:nvSpPr>
          <p:cNvPr id="3" name="">
            <a:extLst xmlns:a="http://schemas.openxmlformats.org/drawingml/2006/main">
              <a:ext uri="{FF2B5EF4-FFF2-40B4-BE49-F238E27FC236}">
                <a16:creationId xmlns:a16="http://schemas.microsoft.com/office/drawing/2014/main" id="{B7075C6B-740A-49CF-A798-91D5555CCA0A}"/>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A deterministic score combines five visible checks across three time horizons</a:t>
            </a:r>
          </a:p>
        </p:txBody>
      </p:sp>
      <p:sp>
        <p:nvSpPr>
          <p:cNvPr id="4" name="">
            <a:extLst xmlns:a="http://schemas.openxmlformats.org/drawingml/2006/main">
              <a:ext uri="{FF2B5EF4-FFF2-40B4-BE49-F238E27FC236}">
                <a16:creationId xmlns:a16="http://schemas.microsoft.com/office/drawing/2014/main" id="{6F319242-A327-4781-A83B-E7B6DFC9BDA2}"/>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B7684CA-A96E-4E82-8B21-1CCDA5CC6C26}"/>
              </a:ext>
            </a:extLst>
          </p:cNvPr>
          <p:cNvSpPr>
            <a:spLocks xmlns:a="http://schemas.openxmlformats.org/drawingml/2006/main" noGrp="1"/>
          </p:cNvSpPr>
          <p:nvPr/>
        </p:nvSpPr>
        <p:spPr>
          <a:xfrm xmlns:a="http://schemas.openxmlformats.org/drawingml/2006/main">
            <a:off x="685800" y="2095500"/>
            <a:ext cx="2857500" cy="2857500"/>
          </a:xfrm>
          <a:prstGeom xmlns:a="http://schemas.openxmlformats.org/drawingml/2006/main" prst="ellipse">
            <a:avLst/>
          </a:prstGeom>
          <a:solidFill xmlns:a="http://schemas.openxmlformats.org/drawingml/2006/main">
            <a:srgbClr val="F4E1DE"/>
          </a:solidFill>
          <a:ln xmlns:a="http://schemas.openxmlformats.org/drawingml/2006/main" w="38100">
            <a:solidFill>
              <a:srgbClr val="A63E32"/>
            </a:solidFill>
            <a:prstDash val="solid"/>
          </a:ln>
        </p:spPr>
      </p:sp>
      <p:sp>
        <p:nvSpPr>
          <p:cNvPr id="6" name="">
            <a:extLst xmlns:a="http://schemas.openxmlformats.org/drawingml/2006/main">
              <a:ext uri="{FF2B5EF4-FFF2-40B4-BE49-F238E27FC236}">
                <a16:creationId xmlns:a16="http://schemas.microsoft.com/office/drawing/2014/main" id="{24B76EF6-D99C-4CEA-8BB9-4B5E6917CC79}"/>
              </a:ext>
            </a:extLst>
          </p:cNvPr>
          <p:cNvSpPr>
            <a:spLocks xmlns:a="http://schemas.openxmlformats.org/drawingml/2006/main" noGrp="1"/>
          </p:cNvSpPr>
          <p:nvPr/>
        </p:nvSpPr>
        <p:spPr>
          <a:xfrm xmlns:a="http://schemas.openxmlformats.org/drawingml/2006/main">
            <a:off x="1047750" y="2686050"/>
            <a:ext cx="2133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6450" b="1">
                <a:solidFill>
                  <a:srgbClr val="A63E32"/>
                </a:solidFill>
                <a:latin typeface="Arial"/>
                <a:ea typeface="Arial"/>
                <a:cs typeface="Arial"/>
              </a:defRPr>
            </a:pPr>
            <a:r>
              <a:rPr sz="6450" b="1">
                <a:solidFill>
                  <a:srgbClr val="A63E32"/>
                </a:solidFill>
                <a:latin typeface="Arial"/>
                <a:ea typeface="Arial"/>
                <a:cs typeface="Arial"/>
              </a:rPr>
              <a:t>37</a:t>
            </a:r>
          </a:p>
        </p:txBody>
      </p:sp>
      <p:sp>
        <p:nvSpPr>
          <p:cNvPr id="7" name="">
            <a:extLst xmlns:a="http://schemas.openxmlformats.org/drawingml/2006/main">
              <a:ext uri="{FF2B5EF4-FFF2-40B4-BE49-F238E27FC236}">
                <a16:creationId xmlns:a16="http://schemas.microsoft.com/office/drawing/2014/main" id="{8F3CBCC0-4E27-454C-BBB8-3853D5205ED1}"/>
              </a:ext>
            </a:extLst>
          </p:cNvPr>
          <p:cNvSpPr>
            <a:spLocks xmlns:a="http://schemas.openxmlformats.org/drawingml/2006/main" noGrp="1"/>
          </p:cNvSpPr>
          <p:nvPr/>
        </p:nvSpPr>
        <p:spPr>
          <a:xfrm xmlns:a="http://schemas.openxmlformats.org/drawingml/2006/main">
            <a:off x="1047750" y="361950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200" b="1">
                <a:solidFill>
                  <a:srgbClr val="A63E32"/>
                </a:solidFill>
                <a:latin typeface="Arial"/>
                <a:ea typeface="Arial"/>
                <a:cs typeface="Arial"/>
              </a:defRPr>
            </a:pPr>
            <a:r>
              <a:rPr sz="1200" b="1">
                <a:solidFill>
                  <a:srgbClr val="A63E32"/>
                </a:solidFill>
                <a:latin typeface="Arial"/>
                <a:ea typeface="Arial"/>
                <a:cs typeface="Arial"/>
              </a:rPr>
              <a:t>OUT OF 100</a:t>
            </a:r>
          </a:p>
        </p:txBody>
      </p:sp>
      <p:sp>
        <p:nvSpPr>
          <p:cNvPr id="8" name="">
            <a:extLst xmlns:a="http://schemas.openxmlformats.org/drawingml/2006/main">
              <a:ext uri="{FF2B5EF4-FFF2-40B4-BE49-F238E27FC236}">
                <a16:creationId xmlns:a16="http://schemas.microsoft.com/office/drawing/2014/main" id="{F5C997AA-2A99-48DC-A56D-399D2FA803C3}"/>
              </a:ext>
            </a:extLst>
          </p:cNvPr>
          <p:cNvSpPr>
            <a:spLocks xmlns:a="http://schemas.openxmlformats.org/drawingml/2006/main" noGrp="1"/>
          </p:cNvSpPr>
          <p:nvPr/>
        </p:nvSpPr>
        <p:spPr>
          <a:xfrm xmlns:a="http://schemas.openxmlformats.org/drawingml/2006/main">
            <a:off x="914400" y="40957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172A33"/>
                </a:solidFill>
                <a:latin typeface="Arial"/>
                <a:ea typeface="Arial"/>
                <a:cs typeface="Arial"/>
              </a:defRPr>
            </a:pPr>
            <a:r>
              <a:rPr sz="1875" b="1">
                <a:solidFill>
                  <a:srgbClr val="172A33"/>
                </a:solidFill>
                <a:latin typeface="Arial"/>
                <a:ea typeface="Arial"/>
                <a:cs typeface="Arial"/>
              </a:rPr>
              <a:t>Needs attention</a:t>
            </a:r>
          </a:p>
        </p:txBody>
      </p:sp>
      <p:sp>
        <p:nvSpPr>
          <p:cNvPr id="9" name="">
            <a:extLst xmlns:a="http://schemas.openxmlformats.org/drawingml/2006/main">
              <a:ext uri="{FF2B5EF4-FFF2-40B4-BE49-F238E27FC236}">
                <a16:creationId xmlns:a16="http://schemas.microsoft.com/office/drawing/2014/main" id="{1DD2F7BA-6BEC-4062-AF57-D2FA6FD959CA}"/>
              </a:ext>
            </a:extLst>
          </p:cNvPr>
          <p:cNvSpPr>
            <a:spLocks xmlns:a="http://schemas.openxmlformats.org/drawingml/2006/main" noGrp="1"/>
          </p:cNvSpPr>
          <p:nvPr/>
        </p:nvSpPr>
        <p:spPr>
          <a:xfrm xmlns:a="http://schemas.openxmlformats.org/drawingml/2006/main">
            <a:off x="4333875" y="20764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a:solidFill>
                  <a:srgbClr val="172A33"/>
                </a:solidFill>
                <a:latin typeface="Arial"/>
                <a:ea typeface="Arial"/>
                <a:cs typeface="Arial"/>
              </a:defRPr>
            </a:pPr>
            <a:r>
              <a:rPr sz="1575" b="1">
                <a:solidFill>
                  <a:srgbClr val="172A33"/>
                </a:solidFill>
                <a:latin typeface="Arial"/>
                <a:ea typeface="Arial"/>
                <a:cs typeface="Arial"/>
              </a:rPr>
              <a:t>Equity allocation</a:t>
            </a:r>
          </a:p>
        </p:txBody>
      </p:sp>
      <p:sp>
        <p:nvSpPr>
          <p:cNvPr id="10" name="">
            <a:extLst xmlns:a="http://schemas.openxmlformats.org/drawingml/2006/main">
              <a:ext uri="{FF2B5EF4-FFF2-40B4-BE49-F238E27FC236}">
                <a16:creationId xmlns:a16="http://schemas.microsoft.com/office/drawing/2014/main" id="{A5C31F43-D3E4-4E73-B627-D4A68538F6F2}"/>
              </a:ext>
            </a:extLst>
          </p:cNvPr>
          <p:cNvSpPr>
            <a:spLocks xmlns:a="http://schemas.openxmlformats.org/drawingml/2006/main" noGrp="1"/>
          </p:cNvSpPr>
          <p:nvPr/>
        </p:nvSpPr>
        <p:spPr>
          <a:xfrm xmlns:a="http://schemas.openxmlformats.org/drawingml/2006/main">
            <a:off x="7848600" y="20955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0">
                <a:solidFill>
                  <a:srgbClr val="657377"/>
                </a:solidFill>
                <a:latin typeface="Arial"/>
                <a:ea typeface="Arial"/>
                <a:cs typeface="Arial"/>
              </a:defRPr>
            </a:pPr>
            <a:r>
              <a:rPr sz="1275" b="0">
                <a:solidFill>
                  <a:srgbClr val="657377"/>
                </a:solidFill>
                <a:latin typeface="Arial"/>
                <a:ea typeface="Arial"/>
                <a:cs typeface="Arial"/>
              </a:rPr>
              <a:t>85.0% vs 65.0% target</a:t>
            </a:r>
          </a:p>
        </p:txBody>
      </p:sp>
      <p:sp>
        <p:nvSpPr>
          <p:cNvPr id="11" name="">
            <a:extLst xmlns:a="http://schemas.openxmlformats.org/drawingml/2006/main">
              <a:ext uri="{FF2B5EF4-FFF2-40B4-BE49-F238E27FC236}">
                <a16:creationId xmlns:a16="http://schemas.microsoft.com/office/drawing/2014/main" id="{3101FE0A-BF8F-4F63-B4EF-DC93F6DDB433}"/>
              </a:ext>
            </a:extLst>
          </p:cNvPr>
          <p:cNvSpPr>
            <a:spLocks xmlns:a="http://schemas.openxmlformats.org/drawingml/2006/main" noGrp="1"/>
          </p:cNvSpPr>
          <p:nvPr/>
        </p:nvSpPr>
        <p:spPr>
          <a:xfrm xmlns:a="http://schemas.openxmlformats.org/drawingml/2006/main">
            <a:off x="4333875" y="2457450"/>
            <a:ext cx="6381750" cy="171450"/>
          </a:xfrm>
          <a:prstGeom xmlns:a="http://schemas.openxmlformats.org/drawingml/2006/main" prst="roundRect">
            <a:avLst>
              <a:gd name="adj" fmla="val 50000"/>
            </a:avLst>
          </a:prstGeom>
          <a:solidFill xmlns:a="http://schemas.openxmlformats.org/drawingml/2006/main">
            <a:srgbClr val="E5E0D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12A48B-C4F6-4E9A-A1F2-6D12332FB7AA}"/>
              </a:ext>
            </a:extLst>
          </p:cNvPr>
          <p:cNvSpPr>
            <a:spLocks xmlns:a="http://schemas.openxmlformats.org/drawingml/2006/main" noGrp="1"/>
          </p:cNvSpPr>
          <p:nvPr/>
        </p:nvSpPr>
        <p:spPr>
          <a:xfrm xmlns:a="http://schemas.openxmlformats.org/drawingml/2006/main">
            <a:off x="4333875" y="2457450"/>
            <a:ext cx="5424488" cy="171450"/>
          </a:xfrm>
          <a:prstGeom xmlns:a="http://schemas.openxmlformats.org/drawingml/2006/main" prst="roundRect">
            <a:avLst>
              <a:gd name="adj" fmla="val 50000"/>
            </a:avLst>
          </a:prstGeom>
          <a:solidFill xmlns:a="http://schemas.openxmlformats.org/drawingml/2006/main">
            <a:srgbClr val="A63E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ECF9BA-15D0-47E6-AE46-6C999B67BD60}"/>
              </a:ext>
            </a:extLst>
          </p:cNvPr>
          <p:cNvSpPr>
            <a:spLocks xmlns:a="http://schemas.openxmlformats.org/drawingml/2006/main" noGrp="1"/>
          </p:cNvSpPr>
          <p:nvPr/>
        </p:nvSpPr>
        <p:spPr>
          <a:xfrm xmlns:a="http://schemas.openxmlformats.org/drawingml/2006/main">
            <a:off x="8482013" y="2400300"/>
            <a:ext cx="0" cy="285750"/>
          </a:xfrm>
          <a:prstGeom xmlns:a="http://schemas.openxmlformats.org/drawingml/2006/main" prst="line">
            <a:avLst/>
          </a:prstGeom>
          <a:noFill xmlns:a="http://schemas.openxmlformats.org/drawingml/2006/main"/>
          <a:ln xmlns:a="http://schemas.openxmlformats.org/drawingml/2006/main" w="28575">
            <a:solidFill>
              <a:srgbClr val="123F56"/>
            </a:solidFill>
            <a:prstDash val="solid"/>
          </a:ln>
        </p:spPr>
      </p:sp>
      <p:sp>
        <p:nvSpPr>
          <p:cNvPr id="14" name="">
            <a:extLst xmlns:a="http://schemas.openxmlformats.org/drawingml/2006/main">
              <a:ext uri="{FF2B5EF4-FFF2-40B4-BE49-F238E27FC236}">
                <a16:creationId xmlns:a16="http://schemas.microsoft.com/office/drawing/2014/main" id="{039C8709-A6B5-478C-8712-9FE66BA23359}"/>
              </a:ext>
            </a:extLst>
          </p:cNvPr>
          <p:cNvSpPr>
            <a:spLocks xmlns:a="http://schemas.openxmlformats.org/drawingml/2006/main" noGrp="1"/>
          </p:cNvSpPr>
          <p:nvPr/>
        </p:nvSpPr>
        <p:spPr>
          <a:xfrm xmlns:a="http://schemas.openxmlformats.org/drawingml/2006/main">
            <a:off x="4333875" y="29622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a:solidFill>
                  <a:srgbClr val="172A33"/>
                </a:solidFill>
                <a:latin typeface="Arial"/>
                <a:ea typeface="Arial"/>
                <a:cs typeface="Arial"/>
              </a:defRPr>
            </a:pPr>
            <a:r>
              <a:rPr sz="1575" b="1">
                <a:solidFill>
                  <a:srgbClr val="172A33"/>
                </a:solidFill>
                <a:latin typeface="Arial"/>
                <a:ea typeface="Arial"/>
                <a:cs typeface="Arial"/>
              </a:rPr>
              <a:t>Largest position: Apple</a:t>
            </a:r>
          </a:p>
        </p:txBody>
      </p:sp>
      <p:sp>
        <p:nvSpPr>
          <p:cNvPr id="15" name="">
            <a:extLst xmlns:a="http://schemas.openxmlformats.org/drawingml/2006/main">
              <a:ext uri="{FF2B5EF4-FFF2-40B4-BE49-F238E27FC236}">
                <a16:creationId xmlns:a16="http://schemas.microsoft.com/office/drawing/2014/main" id="{A4DA469C-837B-4BC1-9430-7BDD1FE0A691}"/>
              </a:ext>
            </a:extLst>
          </p:cNvPr>
          <p:cNvSpPr>
            <a:spLocks xmlns:a="http://schemas.openxmlformats.org/drawingml/2006/main" noGrp="1"/>
          </p:cNvSpPr>
          <p:nvPr/>
        </p:nvSpPr>
        <p:spPr>
          <a:xfrm xmlns:a="http://schemas.openxmlformats.org/drawingml/2006/main">
            <a:off x="7848600" y="29813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0">
                <a:solidFill>
                  <a:srgbClr val="657377"/>
                </a:solidFill>
                <a:latin typeface="Arial"/>
                <a:ea typeface="Arial"/>
                <a:cs typeface="Arial"/>
              </a:defRPr>
            </a:pPr>
            <a:r>
              <a:rPr sz="1275" b="0">
                <a:solidFill>
                  <a:srgbClr val="657377"/>
                </a:solidFill>
                <a:latin typeface="Arial"/>
                <a:ea typeface="Arial"/>
                <a:cs typeface="Arial"/>
              </a:rPr>
              <a:t>30.3% of investable assets</a:t>
            </a:r>
          </a:p>
        </p:txBody>
      </p:sp>
      <p:sp>
        <p:nvSpPr>
          <p:cNvPr id="16" name="">
            <a:extLst xmlns:a="http://schemas.openxmlformats.org/drawingml/2006/main">
              <a:ext uri="{FF2B5EF4-FFF2-40B4-BE49-F238E27FC236}">
                <a16:creationId xmlns:a16="http://schemas.microsoft.com/office/drawing/2014/main" id="{E19F761F-68E9-4DA1-8EAE-39C03A5AD90A}"/>
              </a:ext>
            </a:extLst>
          </p:cNvPr>
          <p:cNvSpPr>
            <a:spLocks xmlns:a="http://schemas.openxmlformats.org/drawingml/2006/main" noGrp="1"/>
          </p:cNvSpPr>
          <p:nvPr/>
        </p:nvSpPr>
        <p:spPr>
          <a:xfrm xmlns:a="http://schemas.openxmlformats.org/drawingml/2006/main">
            <a:off x="4333875" y="3343275"/>
            <a:ext cx="6381750" cy="171450"/>
          </a:xfrm>
          <a:prstGeom xmlns:a="http://schemas.openxmlformats.org/drawingml/2006/main" prst="roundRect">
            <a:avLst>
              <a:gd name="adj" fmla="val 50000"/>
            </a:avLst>
          </a:prstGeom>
          <a:solidFill xmlns:a="http://schemas.openxmlformats.org/drawingml/2006/main">
            <a:srgbClr val="E5E0D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A2E235-1B10-4E5D-B769-F0050A639221}"/>
              </a:ext>
            </a:extLst>
          </p:cNvPr>
          <p:cNvSpPr>
            <a:spLocks xmlns:a="http://schemas.openxmlformats.org/drawingml/2006/main" noGrp="1"/>
          </p:cNvSpPr>
          <p:nvPr/>
        </p:nvSpPr>
        <p:spPr>
          <a:xfrm xmlns:a="http://schemas.openxmlformats.org/drawingml/2006/main">
            <a:off x="4333875" y="3343275"/>
            <a:ext cx="1933670" cy="171450"/>
          </a:xfrm>
          <a:prstGeom xmlns:a="http://schemas.openxmlformats.org/drawingml/2006/main" prst="roundRect">
            <a:avLst>
              <a:gd name="adj" fmla="val 50000"/>
            </a:avLst>
          </a:prstGeom>
          <a:solidFill xmlns:a="http://schemas.openxmlformats.org/drawingml/2006/main">
            <a:srgbClr val="A63E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848AA16-5DDD-4264-A1C4-C2A0ABDC73D6}"/>
              </a:ext>
            </a:extLst>
          </p:cNvPr>
          <p:cNvSpPr>
            <a:spLocks xmlns:a="http://schemas.openxmlformats.org/drawingml/2006/main" noGrp="1"/>
          </p:cNvSpPr>
          <p:nvPr/>
        </p:nvSpPr>
        <p:spPr>
          <a:xfrm xmlns:a="http://schemas.openxmlformats.org/drawingml/2006/main">
            <a:off x="5610225" y="3286125"/>
            <a:ext cx="0" cy="285750"/>
          </a:xfrm>
          <a:prstGeom xmlns:a="http://schemas.openxmlformats.org/drawingml/2006/main" prst="line">
            <a:avLst/>
          </a:prstGeom>
          <a:noFill xmlns:a="http://schemas.openxmlformats.org/drawingml/2006/main"/>
          <a:ln xmlns:a="http://schemas.openxmlformats.org/drawingml/2006/main" w="28575">
            <a:solidFill>
              <a:srgbClr val="123F56"/>
            </a:solidFill>
            <a:prstDash val="solid"/>
          </a:ln>
        </p:spPr>
      </p:sp>
      <p:sp>
        <p:nvSpPr>
          <p:cNvPr id="19" name="">
            <a:extLst xmlns:a="http://schemas.openxmlformats.org/drawingml/2006/main">
              <a:ext uri="{FF2B5EF4-FFF2-40B4-BE49-F238E27FC236}">
                <a16:creationId xmlns:a16="http://schemas.microsoft.com/office/drawing/2014/main" id="{08E673D5-D734-4D6F-8AA0-8BC03A35D112}"/>
              </a:ext>
            </a:extLst>
          </p:cNvPr>
          <p:cNvSpPr>
            <a:spLocks xmlns:a="http://schemas.openxmlformats.org/drawingml/2006/main" noGrp="1"/>
          </p:cNvSpPr>
          <p:nvPr/>
        </p:nvSpPr>
        <p:spPr>
          <a:xfrm xmlns:a="http://schemas.openxmlformats.org/drawingml/2006/main">
            <a:off x="4333875" y="38481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a:solidFill>
                  <a:srgbClr val="172A33"/>
                </a:solidFill>
                <a:latin typeface="Arial"/>
                <a:ea typeface="Arial"/>
                <a:cs typeface="Arial"/>
              </a:defRPr>
            </a:pPr>
            <a:r>
              <a:rPr sz="1575" b="1">
                <a:solidFill>
                  <a:srgbClr val="172A33"/>
                </a:solidFill>
                <a:latin typeface="Arial"/>
                <a:ea typeface="Arial"/>
                <a:cs typeface="Arial"/>
              </a:rPr>
              <a:t>USD exposure</a:t>
            </a:r>
          </a:p>
        </p:txBody>
      </p:sp>
      <p:sp>
        <p:nvSpPr>
          <p:cNvPr id="20" name="">
            <a:extLst xmlns:a="http://schemas.openxmlformats.org/drawingml/2006/main">
              <a:ext uri="{FF2B5EF4-FFF2-40B4-BE49-F238E27FC236}">
                <a16:creationId xmlns:a16="http://schemas.microsoft.com/office/drawing/2014/main" id="{57E4D119-2EA7-4CE3-8223-07C40F278EAB}"/>
              </a:ext>
            </a:extLst>
          </p:cNvPr>
          <p:cNvSpPr>
            <a:spLocks xmlns:a="http://schemas.openxmlformats.org/drawingml/2006/main" noGrp="1"/>
          </p:cNvSpPr>
          <p:nvPr/>
        </p:nvSpPr>
        <p:spPr>
          <a:xfrm xmlns:a="http://schemas.openxmlformats.org/drawingml/2006/main">
            <a:off x="7848600" y="38671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0">
                <a:solidFill>
                  <a:srgbClr val="657377"/>
                </a:solidFill>
                <a:latin typeface="Arial"/>
                <a:ea typeface="Arial"/>
                <a:cs typeface="Arial"/>
              </a:defRPr>
            </a:pPr>
            <a:r>
              <a:rPr sz="1275" b="0">
                <a:solidFill>
                  <a:srgbClr val="657377"/>
                </a:solidFill>
                <a:latin typeface="Arial"/>
                <a:ea typeface="Arial"/>
                <a:cs typeface="Arial"/>
              </a:rPr>
              <a:t>87.1% vs 60.0% guardrail</a:t>
            </a:r>
          </a:p>
        </p:txBody>
      </p:sp>
      <p:sp>
        <p:nvSpPr>
          <p:cNvPr id="21" name="">
            <a:extLst xmlns:a="http://schemas.openxmlformats.org/drawingml/2006/main">
              <a:ext uri="{FF2B5EF4-FFF2-40B4-BE49-F238E27FC236}">
                <a16:creationId xmlns:a16="http://schemas.microsoft.com/office/drawing/2014/main" id="{AFD823E3-8FF5-406F-B33A-0486E3CB1FDA}"/>
              </a:ext>
            </a:extLst>
          </p:cNvPr>
          <p:cNvSpPr>
            <a:spLocks xmlns:a="http://schemas.openxmlformats.org/drawingml/2006/main" noGrp="1"/>
          </p:cNvSpPr>
          <p:nvPr/>
        </p:nvSpPr>
        <p:spPr>
          <a:xfrm xmlns:a="http://schemas.openxmlformats.org/drawingml/2006/main">
            <a:off x="4333875" y="4229100"/>
            <a:ext cx="6381750" cy="171450"/>
          </a:xfrm>
          <a:prstGeom xmlns:a="http://schemas.openxmlformats.org/drawingml/2006/main" prst="roundRect">
            <a:avLst>
              <a:gd name="adj" fmla="val 50000"/>
            </a:avLst>
          </a:prstGeom>
          <a:solidFill xmlns:a="http://schemas.openxmlformats.org/drawingml/2006/main">
            <a:srgbClr val="E5E0D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1822BD9-5D59-4817-926E-40F55C8931A9}"/>
              </a:ext>
            </a:extLst>
          </p:cNvPr>
          <p:cNvSpPr>
            <a:spLocks xmlns:a="http://schemas.openxmlformats.org/drawingml/2006/main" noGrp="1"/>
          </p:cNvSpPr>
          <p:nvPr/>
        </p:nvSpPr>
        <p:spPr>
          <a:xfrm xmlns:a="http://schemas.openxmlformats.org/drawingml/2006/main">
            <a:off x="4333875" y="4229100"/>
            <a:ext cx="5558504" cy="171450"/>
          </a:xfrm>
          <a:prstGeom xmlns:a="http://schemas.openxmlformats.org/drawingml/2006/main" prst="roundRect">
            <a:avLst>
              <a:gd name="adj" fmla="val 50000"/>
            </a:avLst>
          </a:prstGeom>
          <a:solidFill xmlns:a="http://schemas.openxmlformats.org/drawingml/2006/main">
            <a:srgbClr val="A63E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FB05F56-E0A1-4F3D-A02A-8BE8C726D5FE}"/>
              </a:ext>
            </a:extLst>
          </p:cNvPr>
          <p:cNvSpPr>
            <a:spLocks xmlns:a="http://schemas.openxmlformats.org/drawingml/2006/main" noGrp="1"/>
          </p:cNvSpPr>
          <p:nvPr/>
        </p:nvSpPr>
        <p:spPr>
          <a:xfrm xmlns:a="http://schemas.openxmlformats.org/drawingml/2006/main">
            <a:off x="8162925" y="4171950"/>
            <a:ext cx="0" cy="285750"/>
          </a:xfrm>
          <a:prstGeom xmlns:a="http://schemas.openxmlformats.org/drawingml/2006/main" prst="line">
            <a:avLst/>
          </a:prstGeom>
          <a:noFill xmlns:a="http://schemas.openxmlformats.org/drawingml/2006/main"/>
          <a:ln xmlns:a="http://schemas.openxmlformats.org/drawingml/2006/main" w="28575">
            <a:solidFill>
              <a:srgbClr val="123F56"/>
            </a:solidFill>
            <a:prstDash val="solid"/>
          </a:ln>
        </p:spPr>
      </p:sp>
      <p:sp>
        <p:nvSpPr>
          <p:cNvPr id="24" name="">
            <a:extLst xmlns:a="http://schemas.openxmlformats.org/drawingml/2006/main">
              <a:ext uri="{FF2B5EF4-FFF2-40B4-BE49-F238E27FC236}">
                <a16:creationId xmlns:a16="http://schemas.microsoft.com/office/drawing/2014/main" id="{D221C7EB-3DF0-4CC4-ACB0-E66CCA3DE832}"/>
              </a:ext>
            </a:extLst>
          </p:cNvPr>
          <p:cNvSpPr>
            <a:spLocks xmlns:a="http://schemas.openxmlformats.org/drawingml/2006/main" noGrp="1"/>
          </p:cNvSpPr>
          <p:nvPr/>
        </p:nvSpPr>
        <p:spPr>
          <a:xfrm xmlns:a="http://schemas.openxmlformats.org/drawingml/2006/main">
            <a:off x="4333875" y="47339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a:solidFill>
                  <a:srgbClr val="172A33"/>
                </a:solidFill>
                <a:latin typeface="Arial"/>
                <a:ea typeface="Arial"/>
                <a:cs typeface="Arial"/>
              </a:defRPr>
            </a:pPr>
            <a:r>
              <a:rPr sz="1575" b="1">
                <a:solidFill>
                  <a:srgbClr val="172A33"/>
                </a:solidFill>
                <a:latin typeface="Arial"/>
                <a:ea typeface="Arial"/>
                <a:cs typeface="Arial"/>
              </a:rPr>
              <a:t>Premium cash coverage</a:t>
            </a:r>
          </a:p>
        </p:txBody>
      </p:sp>
      <p:sp>
        <p:nvSpPr>
          <p:cNvPr id="25" name="">
            <a:extLst xmlns:a="http://schemas.openxmlformats.org/drawingml/2006/main">
              <a:ext uri="{FF2B5EF4-FFF2-40B4-BE49-F238E27FC236}">
                <a16:creationId xmlns:a16="http://schemas.microsoft.com/office/drawing/2014/main" id="{0BB502E5-9C36-4AB5-AAB8-9DEEF541C584}"/>
              </a:ext>
            </a:extLst>
          </p:cNvPr>
          <p:cNvSpPr>
            <a:spLocks xmlns:a="http://schemas.openxmlformats.org/drawingml/2006/main" noGrp="1"/>
          </p:cNvSpPr>
          <p:nvPr/>
        </p:nvSpPr>
        <p:spPr>
          <a:xfrm xmlns:a="http://schemas.openxmlformats.org/drawingml/2006/main">
            <a:off x="7848600" y="47529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0">
                <a:solidFill>
                  <a:srgbClr val="657377"/>
                </a:solidFill>
                <a:latin typeface="Arial"/>
                <a:ea typeface="Arial"/>
                <a:cs typeface="Arial"/>
              </a:defRPr>
            </a:pPr>
            <a:r>
              <a:rPr sz="1275" b="0">
                <a:solidFill>
                  <a:srgbClr val="657377"/>
                </a:solidFill>
                <a:latin typeface="Arial"/>
                <a:ea typeface="Arial"/>
                <a:cs typeface="Arial"/>
              </a:rPr>
              <a:t>76.2% of known annual premiums</a:t>
            </a:r>
          </a:p>
        </p:txBody>
      </p:sp>
      <p:sp>
        <p:nvSpPr>
          <p:cNvPr id="26" name="">
            <a:extLst xmlns:a="http://schemas.openxmlformats.org/drawingml/2006/main">
              <a:ext uri="{FF2B5EF4-FFF2-40B4-BE49-F238E27FC236}">
                <a16:creationId xmlns:a16="http://schemas.microsoft.com/office/drawing/2014/main" id="{F08B0AF7-ACEC-45DB-A755-9C47B7B04281}"/>
              </a:ext>
            </a:extLst>
          </p:cNvPr>
          <p:cNvSpPr>
            <a:spLocks xmlns:a="http://schemas.openxmlformats.org/drawingml/2006/main" noGrp="1"/>
          </p:cNvSpPr>
          <p:nvPr/>
        </p:nvSpPr>
        <p:spPr>
          <a:xfrm xmlns:a="http://schemas.openxmlformats.org/drawingml/2006/main">
            <a:off x="4333875" y="5114925"/>
            <a:ext cx="6381750" cy="171450"/>
          </a:xfrm>
          <a:prstGeom xmlns:a="http://schemas.openxmlformats.org/drawingml/2006/main" prst="roundRect">
            <a:avLst>
              <a:gd name="adj" fmla="val 50000"/>
            </a:avLst>
          </a:prstGeom>
          <a:solidFill xmlns:a="http://schemas.openxmlformats.org/drawingml/2006/main">
            <a:srgbClr val="E5E0D6"/>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38B625-8969-49E9-B0AF-282AC6ABBE36}"/>
              </a:ext>
            </a:extLst>
          </p:cNvPr>
          <p:cNvSpPr>
            <a:spLocks xmlns:a="http://schemas.openxmlformats.org/drawingml/2006/main" noGrp="1"/>
          </p:cNvSpPr>
          <p:nvPr/>
        </p:nvSpPr>
        <p:spPr>
          <a:xfrm xmlns:a="http://schemas.openxmlformats.org/drawingml/2006/main">
            <a:off x="4333875" y="5114925"/>
            <a:ext cx="4862894" cy="171450"/>
          </a:xfrm>
          <a:prstGeom xmlns:a="http://schemas.openxmlformats.org/drawingml/2006/main" prst="roundRect">
            <a:avLst>
              <a:gd name="adj" fmla="val 50000"/>
            </a:avLst>
          </a:prstGeom>
          <a:solidFill xmlns:a="http://schemas.openxmlformats.org/drawingml/2006/main">
            <a:srgbClr val="A274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F7D7806-4A5C-42E9-BBE2-E1D33F5FD36D}"/>
              </a:ext>
            </a:extLst>
          </p:cNvPr>
          <p:cNvSpPr>
            <a:spLocks xmlns:a="http://schemas.openxmlformats.org/drawingml/2006/main" noGrp="1"/>
          </p:cNvSpPr>
          <p:nvPr/>
        </p:nvSpPr>
        <p:spPr>
          <a:xfrm xmlns:a="http://schemas.openxmlformats.org/drawingml/2006/main">
            <a:off x="10715625" y="5057775"/>
            <a:ext cx="0" cy="285750"/>
          </a:xfrm>
          <a:prstGeom xmlns:a="http://schemas.openxmlformats.org/drawingml/2006/main" prst="line">
            <a:avLst/>
          </a:prstGeom>
          <a:noFill xmlns:a="http://schemas.openxmlformats.org/drawingml/2006/main"/>
          <a:ln xmlns:a="http://schemas.openxmlformats.org/drawingml/2006/main" w="28575">
            <a:solidFill>
              <a:srgbClr val="123F56"/>
            </a:solidFill>
            <a:prstDash val="solid"/>
          </a:ln>
        </p:spPr>
      </p:sp>
      <p:sp>
        <p:nvSpPr>
          <p:cNvPr id="29" name="">
            <a:extLst xmlns:a="http://schemas.openxmlformats.org/drawingml/2006/main">
              <a:ext uri="{FF2B5EF4-FFF2-40B4-BE49-F238E27FC236}">
                <a16:creationId xmlns:a16="http://schemas.microsoft.com/office/drawing/2014/main" id="{A1635A31-0C40-4152-A603-0F515EE04FBA}"/>
              </a:ext>
            </a:extLst>
          </p:cNvPr>
          <p:cNvSpPr>
            <a:spLocks xmlns:a="http://schemas.openxmlformats.org/drawingml/2006/main" noGrp="1"/>
          </p:cNvSpPr>
          <p:nvPr/>
        </p:nvSpPr>
        <p:spPr>
          <a:xfrm xmlns:a="http://schemas.openxmlformats.org/drawingml/2006/main">
            <a:off x="4333875" y="57721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A63E32"/>
                </a:solidFill>
                <a:latin typeface="Arial"/>
                <a:ea typeface="Arial"/>
                <a:cs typeface="Arial"/>
              </a:defRPr>
            </a:pPr>
            <a:r>
              <a:rPr sz="1350" b="1">
                <a:solidFill>
                  <a:srgbClr val="A63E32"/>
                </a:solidFill>
                <a:latin typeface="Arial"/>
                <a:ea typeface="Arial"/>
                <a:cs typeface="Arial"/>
              </a:rPr>
              <a:t>CURRENT  elevated</a:t>
            </a:r>
          </a:p>
        </p:txBody>
      </p:sp>
      <p:sp>
        <p:nvSpPr>
          <p:cNvPr id="30" name="">
            <a:extLst xmlns:a="http://schemas.openxmlformats.org/drawingml/2006/main">
              <a:ext uri="{FF2B5EF4-FFF2-40B4-BE49-F238E27FC236}">
                <a16:creationId xmlns:a16="http://schemas.microsoft.com/office/drawing/2014/main" id="{335ACC6E-922F-44CE-8C4C-39F636B2EC8E}"/>
              </a:ext>
            </a:extLst>
          </p:cNvPr>
          <p:cNvSpPr>
            <a:spLocks xmlns:a="http://schemas.openxmlformats.org/drawingml/2006/main" noGrp="1"/>
          </p:cNvSpPr>
          <p:nvPr/>
        </p:nvSpPr>
        <p:spPr>
          <a:xfrm xmlns:a="http://schemas.openxmlformats.org/drawingml/2006/main">
            <a:off x="6477000" y="57721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a:solidFill>
                  <a:srgbClr val="A63E32"/>
                </a:solidFill>
                <a:latin typeface="Arial"/>
                <a:ea typeface="Arial"/>
                <a:cs typeface="Arial"/>
              </a:defRPr>
            </a:pPr>
            <a:r>
              <a:rPr sz="1350" b="1">
                <a:solidFill>
                  <a:srgbClr val="A63E32"/>
                </a:solidFill>
                <a:latin typeface="Arial"/>
                <a:ea typeface="Arial"/>
                <a:cs typeface="Arial"/>
              </a:rPr>
              <a:t>SHORT TERM  elevated</a:t>
            </a:r>
          </a:p>
        </p:txBody>
      </p:sp>
      <p:sp>
        <p:nvSpPr>
          <p:cNvPr id="31" name="">
            <a:extLst xmlns:a="http://schemas.openxmlformats.org/drawingml/2006/main">
              <a:ext uri="{FF2B5EF4-FFF2-40B4-BE49-F238E27FC236}">
                <a16:creationId xmlns:a16="http://schemas.microsoft.com/office/drawing/2014/main" id="{3B1FD20C-A353-42F3-A029-524867A08248}"/>
              </a:ext>
            </a:extLst>
          </p:cNvPr>
          <p:cNvSpPr>
            <a:spLocks xmlns:a="http://schemas.openxmlformats.org/drawingml/2006/main" noGrp="1"/>
          </p:cNvSpPr>
          <p:nvPr/>
        </p:nvSpPr>
        <p:spPr>
          <a:xfrm xmlns:a="http://schemas.openxmlformats.org/drawingml/2006/main">
            <a:off x="9048750" y="577215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1">
                <a:solidFill>
                  <a:srgbClr val="A63E32"/>
                </a:solidFill>
                <a:latin typeface="Arial"/>
                <a:ea typeface="Arial"/>
                <a:cs typeface="Arial"/>
              </a:defRPr>
            </a:pPr>
            <a:r>
              <a:rPr sz="1350" b="1">
                <a:solidFill>
                  <a:srgbClr val="A63E32"/>
                </a:solidFill>
                <a:latin typeface="Arial"/>
                <a:ea typeface="Arial"/>
                <a:cs typeface="Arial"/>
              </a:rPr>
              <a:t>LONG TERM  elevated</a:t>
            </a:r>
          </a:p>
        </p:txBody>
      </p:sp>
      <p:sp>
        <p:nvSpPr>
          <p:cNvPr id="32" name="">
            <a:extLst xmlns:a="http://schemas.openxmlformats.org/drawingml/2006/main">
              <a:ext uri="{FF2B5EF4-FFF2-40B4-BE49-F238E27FC236}">
                <a16:creationId xmlns:a16="http://schemas.microsoft.com/office/drawing/2014/main" id="{87CFFA3E-36D0-4735-A890-FE9FFD7361C0}"/>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F134186-AA9F-41E0-AF19-28F4A79985D4}"/>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CMU Agentic AI Capstone</a:t>
            </a:r>
          </a:p>
        </p:txBody>
      </p:sp>
    </p:spTree>
    <p:extLst>
      <p:ext uri="{BB962C8B-B14F-4D97-AF65-F5344CB8AC3E}">
        <p14:creationId xmlns:p14="http://schemas.microsoft.com/office/powerpoint/2010/main" val="730306714"/>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8039247-7DD6-4868-A342-D0FA6B024BC7}"/>
              </a:ext>
            </a:extLst>
          </p:cNvPr>
          <p:cNvSpPr>
            <a:spLocks xmlns:a="http://schemas.openxmlformats.org/drawingml/2006/main" noGrp="1"/>
          </p:cNvSpPr>
          <p:nvPr/>
        </p:nvSpPr>
        <p:spPr>
          <a:xfrm xmlns:a="http://schemas.openxmlformats.org/drawingml/2006/main">
            <a:off x="590550" y="428625"/>
            <a:ext cx="495300" cy="47625"/>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C2DA1F-1325-4B10-9936-C8F1536074DD}"/>
              </a:ext>
            </a:extLst>
          </p:cNvPr>
          <p:cNvSpPr>
            <a:spLocks xmlns:a="http://schemas.openxmlformats.org/drawingml/2006/main" noGrp="1"/>
          </p:cNvSpPr>
          <p:nvPr/>
        </p:nvSpPr>
        <p:spPr>
          <a:xfrm xmlns:a="http://schemas.openxmlformats.org/drawingml/2006/main">
            <a:off x="590550" y="638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225" b="1">
                <a:solidFill>
                  <a:srgbClr val="172A33"/>
                </a:solidFill>
                <a:latin typeface="Arial"/>
                <a:ea typeface="Arial"/>
                <a:cs typeface="Arial"/>
              </a:defRPr>
            </a:pPr>
            <a:r>
              <a:rPr sz="3225" b="1">
                <a:solidFill>
                  <a:srgbClr val="172A33"/>
                </a:solidFill>
                <a:latin typeface="Arial"/>
                <a:ea typeface="Arial"/>
                <a:cs typeface="Arial"/>
              </a:rPr>
              <a:t>Evaluation supports specific, bounded claims</a:t>
            </a:r>
          </a:p>
        </p:txBody>
      </p:sp>
      <p:sp>
        <p:nvSpPr>
          <p:cNvPr id="3" name="">
            <a:extLst xmlns:a="http://schemas.openxmlformats.org/drawingml/2006/main">
              <a:ext uri="{FF2B5EF4-FFF2-40B4-BE49-F238E27FC236}">
                <a16:creationId xmlns:a16="http://schemas.microsoft.com/office/drawing/2014/main" id="{90721D8A-6720-4139-AD7E-9B436E178636}"/>
              </a:ext>
            </a:extLst>
          </p:cNvPr>
          <p:cNvSpPr>
            <a:spLocks xmlns:a="http://schemas.openxmlformats.org/drawingml/2006/main" noGrp="1"/>
          </p:cNvSpPr>
          <p:nvPr/>
        </p:nvSpPr>
        <p:spPr>
          <a:xfrm xmlns:a="http://schemas.openxmlformats.org/drawingml/2006/main">
            <a:off x="609600" y="1200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657377"/>
                </a:solidFill>
                <a:latin typeface="Arial"/>
                <a:ea typeface="Arial"/>
                <a:cs typeface="Arial"/>
              </a:defRPr>
            </a:pPr>
            <a:r>
              <a:rPr sz="1500" b="0">
                <a:solidFill>
                  <a:srgbClr val="657377"/>
                </a:solidFill>
                <a:latin typeface="Arial"/>
                <a:ea typeface="Arial"/>
                <a:cs typeface="Arial"/>
              </a:rPr>
              <a:t>A known synthetic corpus tests extraction, reconciliation, exact math, and privacy boundaries</a:t>
            </a:r>
          </a:p>
        </p:txBody>
      </p:sp>
      <p:sp>
        <p:nvSpPr>
          <p:cNvPr id="4" name="">
            <a:extLst xmlns:a="http://schemas.openxmlformats.org/drawingml/2006/main">
              <a:ext uri="{FF2B5EF4-FFF2-40B4-BE49-F238E27FC236}">
                <a16:creationId xmlns:a16="http://schemas.microsoft.com/office/drawing/2014/main" id="{14C7B24B-6112-433A-82E7-F55373841D51}"/>
              </a:ext>
            </a:extLst>
          </p:cNvPr>
          <p:cNvSpPr>
            <a:spLocks xmlns:a="http://schemas.openxmlformats.org/drawingml/2006/main" noGrp="1"/>
          </p:cNvSpPr>
          <p:nvPr/>
        </p:nvSpPr>
        <p:spPr>
          <a:xfrm xmlns:a="http://schemas.openxmlformats.org/drawingml/2006/main">
            <a:off x="11182350" y="5048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275" b="1">
                <a:solidFill>
                  <a:srgbClr val="C76032"/>
                </a:solidFill>
                <a:latin typeface="Arial"/>
                <a:ea typeface="Arial"/>
                <a:cs typeface="Arial"/>
              </a:defRPr>
            </a:pPr>
            <a:r>
              <a:rPr sz="1275" b="1">
                <a:solidFill>
                  <a:srgbClr val="C7603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78F37C3-F4D2-4809-8F3F-8DBDAA24DAB1}"/>
              </a:ext>
            </a:extLst>
          </p:cNvPr>
          <p:cNvSpPr>
            <a:spLocks xmlns:a="http://schemas.openxmlformats.org/drawingml/2006/main" noGrp="1"/>
          </p:cNvSpPr>
          <p:nvPr/>
        </p:nvSpPr>
        <p:spPr>
          <a:xfrm xmlns:a="http://schemas.openxmlformats.org/drawingml/2006/main">
            <a:off x="1066800" y="3143250"/>
            <a:ext cx="10058400" cy="0"/>
          </a:xfrm>
          <a:prstGeom xmlns:a="http://schemas.openxmlformats.org/drawingml/2006/main" prst="line">
            <a:avLst/>
          </a:prstGeom>
          <a:noFill xmlns:a="http://schemas.openxmlformats.org/drawingml/2006/main"/>
          <a:ln xmlns:a="http://schemas.openxmlformats.org/drawingml/2006/main" w="38100">
            <a:solidFill>
              <a:srgbClr val="D8D2C6"/>
            </a:solidFill>
            <a:prstDash val="solid"/>
          </a:ln>
        </p:spPr>
      </p:sp>
      <p:sp>
        <p:nvSpPr>
          <p:cNvPr id="6" name="">
            <a:extLst xmlns:a="http://schemas.openxmlformats.org/drawingml/2006/main">
              <a:ext uri="{FF2B5EF4-FFF2-40B4-BE49-F238E27FC236}">
                <a16:creationId xmlns:a16="http://schemas.microsoft.com/office/drawing/2014/main" id="{3DEB64B0-3D4C-4CEE-894A-4577E1F7CE28}"/>
              </a:ext>
            </a:extLst>
          </p:cNvPr>
          <p:cNvSpPr>
            <a:spLocks xmlns:a="http://schemas.openxmlformats.org/drawingml/2006/main" noGrp="1"/>
          </p:cNvSpPr>
          <p:nvPr/>
        </p:nvSpPr>
        <p:spPr>
          <a:xfrm xmlns:a="http://schemas.openxmlformats.org/drawingml/2006/main">
            <a:off x="1238250" y="2895600"/>
            <a:ext cx="495300" cy="495300"/>
          </a:xfrm>
          <a:prstGeom xmlns:a="http://schemas.openxmlformats.org/drawingml/2006/main" prst="ellipse">
            <a:avLst/>
          </a:prstGeom>
          <a:solidFill xmlns:a="http://schemas.openxmlformats.org/drawingml/2006/main">
            <a:srgbClr val="25765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F67AD9-C08C-4B2E-94BD-8A880A311E56}"/>
              </a:ext>
            </a:extLst>
          </p:cNvPr>
          <p:cNvSpPr>
            <a:spLocks xmlns:a="http://schemas.openxmlformats.org/drawingml/2006/main" noGrp="1"/>
          </p:cNvSpPr>
          <p:nvPr/>
        </p:nvSpPr>
        <p:spPr>
          <a:xfrm xmlns:a="http://schemas.openxmlformats.org/drawingml/2006/main">
            <a:off x="1238250" y="296227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A2B1C33D-527D-4C97-A64E-A2ACA0EE694B}"/>
              </a:ext>
            </a:extLst>
          </p:cNvPr>
          <p:cNvSpPr>
            <a:spLocks xmlns:a="http://schemas.openxmlformats.org/drawingml/2006/main" noGrp="1"/>
          </p:cNvSpPr>
          <p:nvPr/>
        </p:nvSpPr>
        <p:spPr>
          <a:xfrm xmlns:a="http://schemas.openxmlformats.org/drawingml/2006/main">
            <a:off x="6286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850" b="1">
                <a:solidFill>
                  <a:srgbClr val="123F56"/>
                </a:solidFill>
                <a:latin typeface="Arial"/>
                <a:ea typeface="Arial"/>
                <a:cs typeface="Arial"/>
              </a:defRPr>
            </a:pPr>
            <a:r>
              <a:rPr sz="2850" b="1">
                <a:solidFill>
                  <a:srgbClr val="123F56"/>
                </a:solidFill>
                <a:latin typeface="Arial"/>
                <a:ea typeface="Arial"/>
                <a:cs typeface="Arial"/>
              </a:rPr>
              <a:t>6 / 6</a:t>
            </a:r>
          </a:p>
        </p:txBody>
      </p:sp>
      <p:sp>
        <p:nvSpPr>
          <p:cNvPr id="9" name="">
            <a:extLst xmlns:a="http://schemas.openxmlformats.org/drawingml/2006/main">
              <a:ext uri="{FF2B5EF4-FFF2-40B4-BE49-F238E27FC236}">
                <a16:creationId xmlns:a16="http://schemas.microsoft.com/office/drawing/2014/main" id="{09CBC211-9DFD-442F-BFF9-AEF89DC80C82}"/>
              </a:ext>
            </a:extLst>
          </p:cNvPr>
          <p:cNvSpPr>
            <a:spLocks xmlns:a="http://schemas.openxmlformats.org/drawingml/2006/main" noGrp="1"/>
          </p:cNvSpPr>
          <p:nvPr/>
        </p:nvSpPr>
        <p:spPr>
          <a:xfrm xmlns:a="http://schemas.openxmlformats.org/drawingml/2006/main">
            <a:off x="628650" y="3676650"/>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Document</a:t>
            </a:r>
          </a:p>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classification</a:t>
            </a:r>
          </a:p>
        </p:txBody>
      </p:sp>
      <p:sp>
        <p:nvSpPr>
          <p:cNvPr id="10" name="">
            <a:extLst xmlns:a="http://schemas.openxmlformats.org/drawingml/2006/main">
              <a:ext uri="{FF2B5EF4-FFF2-40B4-BE49-F238E27FC236}">
                <a16:creationId xmlns:a16="http://schemas.microsoft.com/office/drawing/2014/main" id="{A5F6FDC9-13B5-411B-B7D3-5583E9E955BE}"/>
              </a:ext>
            </a:extLst>
          </p:cNvPr>
          <p:cNvSpPr>
            <a:spLocks xmlns:a="http://schemas.openxmlformats.org/drawingml/2006/main" noGrp="1"/>
          </p:cNvSpPr>
          <p:nvPr/>
        </p:nvSpPr>
        <p:spPr>
          <a:xfrm xmlns:a="http://schemas.openxmlformats.org/drawingml/2006/main">
            <a:off x="3162300" y="2895600"/>
            <a:ext cx="495300" cy="495300"/>
          </a:xfrm>
          <a:prstGeom xmlns:a="http://schemas.openxmlformats.org/drawingml/2006/main" prst="ellipse">
            <a:avLst/>
          </a:prstGeom>
          <a:solidFill xmlns:a="http://schemas.openxmlformats.org/drawingml/2006/main">
            <a:srgbClr val="25765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19FDAEF-8E1A-40F3-A333-35CB5548C520}"/>
              </a:ext>
            </a:extLst>
          </p:cNvPr>
          <p:cNvSpPr>
            <a:spLocks xmlns:a="http://schemas.openxmlformats.org/drawingml/2006/main" noGrp="1"/>
          </p:cNvSpPr>
          <p:nvPr/>
        </p:nvSpPr>
        <p:spPr>
          <a:xfrm xmlns:a="http://schemas.openxmlformats.org/drawingml/2006/main">
            <a:off x="3162300" y="296227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09271B0F-6629-4E63-AF23-D1B090016B18}"/>
              </a:ext>
            </a:extLst>
          </p:cNvPr>
          <p:cNvSpPr>
            <a:spLocks xmlns:a="http://schemas.openxmlformats.org/drawingml/2006/main" noGrp="1"/>
          </p:cNvSpPr>
          <p:nvPr/>
        </p:nvSpPr>
        <p:spPr>
          <a:xfrm xmlns:a="http://schemas.openxmlformats.org/drawingml/2006/main">
            <a:off x="255270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850" b="1">
                <a:solidFill>
                  <a:srgbClr val="123F56"/>
                </a:solidFill>
                <a:latin typeface="Arial"/>
                <a:ea typeface="Arial"/>
                <a:cs typeface="Arial"/>
              </a:defRPr>
            </a:pPr>
            <a:r>
              <a:rPr sz="2850" b="1">
                <a:solidFill>
                  <a:srgbClr val="123F56"/>
                </a:solidFill>
                <a:latin typeface="Arial"/>
                <a:ea typeface="Arial"/>
                <a:cs typeface="Arial"/>
              </a:rPr>
              <a:t>4 / 4</a:t>
            </a:r>
          </a:p>
        </p:txBody>
      </p:sp>
      <p:sp>
        <p:nvSpPr>
          <p:cNvPr id="13" name="">
            <a:extLst xmlns:a="http://schemas.openxmlformats.org/drawingml/2006/main">
              <a:ext uri="{FF2B5EF4-FFF2-40B4-BE49-F238E27FC236}">
                <a16:creationId xmlns:a16="http://schemas.microsoft.com/office/drawing/2014/main" id="{ED3FBDCC-6C69-46E5-B17B-FFAC3F1EFF0F}"/>
              </a:ext>
            </a:extLst>
          </p:cNvPr>
          <p:cNvSpPr>
            <a:spLocks xmlns:a="http://schemas.openxmlformats.org/drawingml/2006/main" noGrp="1"/>
          </p:cNvSpPr>
          <p:nvPr/>
        </p:nvSpPr>
        <p:spPr>
          <a:xfrm xmlns:a="http://schemas.openxmlformats.org/drawingml/2006/main">
            <a:off x="2552700" y="3676650"/>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Golden</a:t>
            </a:r>
          </a:p>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reconciliation</a:t>
            </a:r>
          </a:p>
        </p:txBody>
      </p:sp>
      <p:sp>
        <p:nvSpPr>
          <p:cNvPr id="14" name="">
            <a:extLst xmlns:a="http://schemas.openxmlformats.org/drawingml/2006/main">
              <a:ext uri="{FF2B5EF4-FFF2-40B4-BE49-F238E27FC236}">
                <a16:creationId xmlns:a16="http://schemas.microsoft.com/office/drawing/2014/main" id="{4FC7D8B6-B2C2-4D22-BDE9-640E4D70AEC1}"/>
              </a:ext>
            </a:extLst>
          </p:cNvPr>
          <p:cNvSpPr>
            <a:spLocks xmlns:a="http://schemas.openxmlformats.org/drawingml/2006/main" noGrp="1"/>
          </p:cNvSpPr>
          <p:nvPr/>
        </p:nvSpPr>
        <p:spPr>
          <a:xfrm xmlns:a="http://schemas.openxmlformats.org/drawingml/2006/main">
            <a:off x="5086350" y="2895600"/>
            <a:ext cx="495300" cy="495300"/>
          </a:xfrm>
          <a:prstGeom xmlns:a="http://schemas.openxmlformats.org/drawingml/2006/main" prst="ellipse">
            <a:avLst/>
          </a:prstGeom>
          <a:solidFill xmlns:a="http://schemas.openxmlformats.org/drawingml/2006/main">
            <a:srgbClr val="25765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111DC18-F634-4F8C-927B-213D0B34AF74}"/>
              </a:ext>
            </a:extLst>
          </p:cNvPr>
          <p:cNvSpPr>
            <a:spLocks xmlns:a="http://schemas.openxmlformats.org/drawingml/2006/main" noGrp="1"/>
          </p:cNvSpPr>
          <p:nvPr/>
        </p:nvSpPr>
        <p:spPr>
          <a:xfrm xmlns:a="http://schemas.openxmlformats.org/drawingml/2006/main">
            <a:off x="5086350" y="296227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E8B99E45-D16B-4951-AACA-68F9F2D257D9}"/>
              </a:ext>
            </a:extLst>
          </p:cNvPr>
          <p:cNvSpPr>
            <a:spLocks xmlns:a="http://schemas.openxmlformats.org/drawingml/2006/main" noGrp="1"/>
          </p:cNvSpPr>
          <p:nvPr/>
        </p:nvSpPr>
        <p:spPr>
          <a:xfrm xmlns:a="http://schemas.openxmlformats.org/drawingml/2006/main">
            <a:off x="4476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850" b="1">
                <a:solidFill>
                  <a:srgbClr val="123F56"/>
                </a:solidFill>
                <a:latin typeface="Arial"/>
                <a:ea typeface="Arial"/>
                <a:cs typeface="Arial"/>
              </a:defRPr>
            </a:pPr>
            <a:r>
              <a:rPr sz="2850" b="1">
                <a:solidFill>
                  <a:srgbClr val="123F56"/>
                </a:solidFill>
                <a:latin typeface="Arial"/>
                <a:ea typeface="Arial"/>
                <a:cs typeface="Arial"/>
              </a:rPr>
              <a:t>7 / 7</a:t>
            </a:r>
          </a:p>
        </p:txBody>
      </p:sp>
      <p:sp>
        <p:nvSpPr>
          <p:cNvPr id="17" name="">
            <a:extLst xmlns:a="http://schemas.openxmlformats.org/drawingml/2006/main">
              <a:ext uri="{FF2B5EF4-FFF2-40B4-BE49-F238E27FC236}">
                <a16:creationId xmlns:a16="http://schemas.microsoft.com/office/drawing/2014/main" id="{9CE481A3-910C-469E-BF18-F5EBA4CCF8C6}"/>
              </a:ext>
            </a:extLst>
          </p:cNvPr>
          <p:cNvSpPr>
            <a:spLocks xmlns:a="http://schemas.openxmlformats.org/drawingml/2006/main" noGrp="1"/>
          </p:cNvSpPr>
          <p:nvPr/>
        </p:nvSpPr>
        <p:spPr>
          <a:xfrm xmlns:a="http://schemas.openxmlformats.org/drawingml/2006/main">
            <a:off x="4476750" y="3676650"/>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Holdings and</a:t>
            </a:r>
          </a:p>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cost basis</a:t>
            </a:r>
          </a:p>
        </p:txBody>
      </p:sp>
      <p:sp>
        <p:nvSpPr>
          <p:cNvPr id="18" name="">
            <a:extLst xmlns:a="http://schemas.openxmlformats.org/drawingml/2006/main">
              <a:ext uri="{FF2B5EF4-FFF2-40B4-BE49-F238E27FC236}">
                <a16:creationId xmlns:a16="http://schemas.microsoft.com/office/drawing/2014/main" id="{51B4E2A1-105B-44A5-AFF7-20E50B8F894A}"/>
              </a:ext>
            </a:extLst>
          </p:cNvPr>
          <p:cNvSpPr>
            <a:spLocks xmlns:a="http://schemas.openxmlformats.org/drawingml/2006/main" noGrp="1"/>
          </p:cNvSpPr>
          <p:nvPr/>
        </p:nvSpPr>
        <p:spPr>
          <a:xfrm xmlns:a="http://schemas.openxmlformats.org/drawingml/2006/main">
            <a:off x="7010400" y="2895600"/>
            <a:ext cx="495300" cy="495300"/>
          </a:xfrm>
          <a:prstGeom xmlns:a="http://schemas.openxmlformats.org/drawingml/2006/main" prst="ellipse">
            <a:avLst/>
          </a:prstGeom>
          <a:solidFill xmlns:a="http://schemas.openxmlformats.org/drawingml/2006/main">
            <a:srgbClr val="25765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2F96643-B966-4B13-A6BB-7B89FF7703F6}"/>
              </a:ext>
            </a:extLst>
          </p:cNvPr>
          <p:cNvSpPr>
            <a:spLocks xmlns:a="http://schemas.openxmlformats.org/drawingml/2006/main" noGrp="1"/>
          </p:cNvSpPr>
          <p:nvPr/>
        </p:nvSpPr>
        <p:spPr>
          <a:xfrm xmlns:a="http://schemas.openxmlformats.org/drawingml/2006/main">
            <a:off x="7010400" y="296227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0DF559C4-2856-456C-B9F9-41F97A40514E}"/>
              </a:ext>
            </a:extLst>
          </p:cNvPr>
          <p:cNvSpPr>
            <a:spLocks xmlns:a="http://schemas.openxmlformats.org/drawingml/2006/main" noGrp="1"/>
          </p:cNvSpPr>
          <p:nvPr/>
        </p:nvSpPr>
        <p:spPr>
          <a:xfrm xmlns:a="http://schemas.openxmlformats.org/drawingml/2006/main">
            <a:off x="640080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850" b="1">
                <a:solidFill>
                  <a:srgbClr val="123F56"/>
                </a:solidFill>
                <a:latin typeface="Arial"/>
                <a:ea typeface="Arial"/>
                <a:cs typeface="Arial"/>
              </a:defRPr>
            </a:pPr>
            <a:r>
              <a:rPr sz="2850" b="1">
                <a:solidFill>
                  <a:srgbClr val="123F56"/>
                </a:solidFill>
                <a:latin typeface="Arial"/>
                <a:ea typeface="Arial"/>
                <a:cs typeface="Arial"/>
              </a:rPr>
              <a:t>$0.00</a:t>
            </a:r>
          </a:p>
        </p:txBody>
      </p:sp>
      <p:sp>
        <p:nvSpPr>
          <p:cNvPr id="21" name="">
            <a:extLst xmlns:a="http://schemas.openxmlformats.org/drawingml/2006/main">
              <a:ext uri="{FF2B5EF4-FFF2-40B4-BE49-F238E27FC236}">
                <a16:creationId xmlns:a16="http://schemas.microsoft.com/office/drawing/2014/main" id="{C2DDBBEA-EF0B-4A8A-BA0F-534EF4664D7D}"/>
              </a:ext>
            </a:extLst>
          </p:cNvPr>
          <p:cNvSpPr>
            <a:spLocks xmlns:a="http://schemas.openxmlformats.org/drawingml/2006/main" noGrp="1"/>
          </p:cNvSpPr>
          <p:nvPr/>
        </p:nvSpPr>
        <p:spPr>
          <a:xfrm xmlns:a="http://schemas.openxmlformats.org/drawingml/2006/main">
            <a:off x="6400800" y="3676650"/>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Net-worth</a:t>
            </a:r>
          </a:p>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error</a:t>
            </a:r>
          </a:p>
        </p:txBody>
      </p:sp>
      <p:sp>
        <p:nvSpPr>
          <p:cNvPr id="22" name="">
            <a:extLst xmlns:a="http://schemas.openxmlformats.org/drawingml/2006/main">
              <a:ext uri="{FF2B5EF4-FFF2-40B4-BE49-F238E27FC236}">
                <a16:creationId xmlns:a16="http://schemas.microsoft.com/office/drawing/2014/main" id="{F961A33A-8F58-44AF-B8ED-6FC56C329633}"/>
              </a:ext>
            </a:extLst>
          </p:cNvPr>
          <p:cNvSpPr>
            <a:spLocks xmlns:a="http://schemas.openxmlformats.org/drawingml/2006/main" noGrp="1"/>
          </p:cNvSpPr>
          <p:nvPr/>
        </p:nvSpPr>
        <p:spPr>
          <a:xfrm xmlns:a="http://schemas.openxmlformats.org/drawingml/2006/main">
            <a:off x="8934450" y="2895600"/>
            <a:ext cx="495300" cy="495300"/>
          </a:xfrm>
          <a:prstGeom xmlns:a="http://schemas.openxmlformats.org/drawingml/2006/main" prst="ellipse">
            <a:avLst/>
          </a:prstGeom>
          <a:solidFill xmlns:a="http://schemas.openxmlformats.org/drawingml/2006/main">
            <a:srgbClr val="25765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E3320C-720F-4360-BD1C-3CB992970492}"/>
              </a:ext>
            </a:extLst>
          </p:cNvPr>
          <p:cNvSpPr>
            <a:spLocks xmlns:a="http://schemas.openxmlformats.org/drawingml/2006/main" noGrp="1"/>
          </p:cNvSpPr>
          <p:nvPr/>
        </p:nvSpPr>
        <p:spPr>
          <a:xfrm xmlns:a="http://schemas.openxmlformats.org/drawingml/2006/main">
            <a:off x="8934450" y="296227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C476F668-05B6-4728-BDF8-9E10E559E369}"/>
              </a:ext>
            </a:extLst>
          </p:cNvPr>
          <p:cNvSpPr>
            <a:spLocks xmlns:a="http://schemas.openxmlformats.org/drawingml/2006/main" noGrp="1"/>
          </p:cNvSpPr>
          <p:nvPr/>
        </p:nvSpPr>
        <p:spPr>
          <a:xfrm xmlns:a="http://schemas.openxmlformats.org/drawingml/2006/main">
            <a:off x="83248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850" b="1">
                <a:solidFill>
                  <a:srgbClr val="123F56"/>
                </a:solidFill>
                <a:latin typeface="Arial"/>
                <a:ea typeface="Arial"/>
                <a:cs typeface="Arial"/>
              </a:defRPr>
            </a:pPr>
            <a:r>
              <a:rPr sz="2850" b="1">
                <a:solidFill>
                  <a:srgbClr val="123F56"/>
                </a:solidFill>
                <a:latin typeface="Arial"/>
                <a:ea typeface="Arial"/>
                <a:cs typeface="Arial"/>
              </a:rPr>
              <a:t>0</a:t>
            </a:r>
          </a:p>
        </p:txBody>
      </p:sp>
      <p:sp>
        <p:nvSpPr>
          <p:cNvPr id="25" name="">
            <a:extLst xmlns:a="http://schemas.openxmlformats.org/drawingml/2006/main">
              <a:ext uri="{FF2B5EF4-FFF2-40B4-BE49-F238E27FC236}">
                <a16:creationId xmlns:a16="http://schemas.microsoft.com/office/drawing/2014/main" id="{197AC129-2604-4825-B757-6BAE37A638D2}"/>
              </a:ext>
            </a:extLst>
          </p:cNvPr>
          <p:cNvSpPr>
            <a:spLocks xmlns:a="http://schemas.openxmlformats.org/drawingml/2006/main" noGrp="1"/>
          </p:cNvSpPr>
          <p:nvPr/>
        </p:nvSpPr>
        <p:spPr>
          <a:xfrm xmlns:a="http://schemas.openxmlformats.org/drawingml/2006/main">
            <a:off x="8324850" y="3676650"/>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Unsafe term</a:t>
            </a:r>
          </a:p>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valuations</a:t>
            </a:r>
          </a:p>
        </p:txBody>
      </p:sp>
      <p:sp>
        <p:nvSpPr>
          <p:cNvPr id="26" name="">
            <a:extLst xmlns:a="http://schemas.openxmlformats.org/drawingml/2006/main">
              <a:ext uri="{FF2B5EF4-FFF2-40B4-BE49-F238E27FC236}">
                <a16:creationId xmlns:a16="http://schemas.microsoft.com/office/drawing/2014/main" id="{F875E0EB-4A61-4F04-8051-D779B3D41885}"/>
              </a:ext>
            </a:extLst>
          </p:cNvPr>
          <p:cNvSpPr>
            <a:spLocks xmlns:a="http://schemas.openxmlformats.org/drawingml/2006/main" noGrp="1"/>
          </p:cNvSpPr>
          <p:nvPr/>
        </p:nvSpPr>
        <p:spPr>
          <a:xfrm xmlns:a="http://schemas.openxmlformats.org/drawingml/2006/main">
            <a:off x="10858500" y="2895600"/>
            <a:ext cx="495300" cy="495300"/>
          </a:xfrm>
          <a:prstGeom xmlns:a="http://schemas.openxmlformats.org/drawingml/2006/main" prst="ellipse">
            <a:avLst/>
          </a:prstGeom>
          <a:solidFill xmlns:a="http://schemas.openxmlformats.org/drawingml/2006/main">
            <a:srgbClr val="25765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526F702-CEE6-42CF-8AFF-0CAFA871110B}"/>
              </a:ext>
            </a:extLst>
          </p:cNvPr>
          <p:cNvSpPr>
            <a:spLocks xmlns:a="http://schemas.openxmlformats.org/drawingml/2006/main" noGrp="1"/>
          </p:cNvSpPr>
          <p:nvPr/>
        </p:nvSpPr>
        <p:spPr>
          <a:xfrm xmlns:a="http://schemas.openxmlformats.org/drawingml/2006/main">
            <a:off x="10858500" y="2962275"/>
            <a:ext cx="49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687A40CF-2A14-4C88-A929-1D7A913FF094}"/>
              </a:ext>
            </a:extLst>
          </p:cNvPr>
          <p:cNvSpPr>
            <a:spLocks xmlns:a="http://schemas.openxmlformats.org/drawingml/2006/main" noGrp="1"/>
          </p:cNvSpPr>
          <p:nvPr/>
        </p:nvSpPr>
        <p:spPr>
          <a:xfrm xmlns:a="http://schemas.openxmlformats.org/drawingml/2006/main">
            <a:off x="1024890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850" b="1">
                <a:solidFill>
                  <a:srgbClr val="123F56"/>
                </a:solidFill>
                <a:latin typeface="Arial"/>
                <a:ea typeface="Arial"/>
                <a:cs typeface="Arial"/>
              </a:defRPr>
            </a:pPr>
            <a:r>
              <a:rPr sz="2850" b="1">
                <a:solidFill>
                  <a:srgbClr val="123F56"/>
                </a:solidFill>
                <a:latin typeface="Arial"/>
                <a:ea typeface="Arial"/>
                <a:cs typeface="Arial"/>
              </a:rPr>
              <a:t>0</a:t>
            </a:r>
          </a:p>
        </p:txBody>
      </p:sp>
      <p:sp>
        <p:nvSpPr>
          <p:cNvPr id="29" name="">
            <a:extLst xmlns:a="http://schemas.openxmlformats.org/drawingml/2006/main">
              <a:ext uri="{FF2B5EF4-FFF2-40B4-BE49-F238E27FC236}">
                <a16:creationId xmlns:a16="http://schemas.microsoft.com/office/drawing/2014/main" id="{21BAF488-4352-4273-8798-1334968E36F3}"/>
              </a:ext>
            </a:extLst>
          </p:cNvPr>
          <p:cNvSpPr>
            <a:spLocks xmlns:a="http://schemas.openxmlformats.org/drawingml/2006/main" noGrp="1"/>
          </p:cNvSpPr>
          <p:nvPr/>
        </p:nvSpPr>
        <p:spPr>
          <a:xfrm xmlns:a="http://schemas.openxmlformats.org/drawingml/2006/main">
            <a:off x="10248900" y="3676650"/>
            <a:ext cx="171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Raw document</a:t>
            </a:r>
          </a:p>
          <a:p xmlns:a="http://schemas.openxmlformats.org/drawingml/2006/main">
            <a:pPr algn="ctr">
              <a:lnSpc>
                <a:spcPct val="112000"/>
              </a:lnSpc>
              <a:buNone/>
              <a:defRPr sz="1500" b="1">
                <a:solidFill>
                  <a:srgbClr val="172A33"/>
                </a:solidFill>
                <a:latin typeface="Arial"/>
                <a:ea typeface="Arial"/>
                <a:cs typeface="Arial"/>
              </a:defRPr>
            </a:pPr>
            <a:r>
              <a:rPr sz="1500" b="1">
                <a:solidFill>
                  <a:srgbClr val="172A33"/>
                </a:solidFill>
                <a:latin typeface="Arial"/>
                <a:ea typeface="Arial"/>
                <a:cs typeface="Arial"/>
              </a:rPr>
              <a:t>tools for Claude</a:t>
            </a:r>
          </a:p>
        </p:txBody>
      </p:sp>
      <p:sp>
        <p:nvSpPr>
          <p:cNvPr id="30" name="">
            <a:extLst xmlns:a="http://schemas.openxmlformats.org/drawingml/2006/main">
              <a:ext uri="{FF2B5EF4-FFF2-40B4-BE49-F238E27FC236}">
                <a16:creationId xmlns:a16="http://schemas.microsoft.com/office/drawing/2014/main" id="{D08C4B3A-8011-4281-913F-CEDE0FE578EA}"/>
              </a:ext>
            </a:extLst>
          </p:cNvPr>
          <p:cNvSpPr>
            <a:spLocks xmlns:a="http://schemas.openxmlformats.org/drawingml/2006/main" noGrp="1"/>
          </p:cNvSpPr>
          <p:nvPr/>
        </p:nvSpPr>
        <p:spPr>
          <a:xfrm xmlns:a="http://schemas.openxmlformats.org/drawingml/2006/main">
            <a:off x="895350" y="4810125"/>
            <a:ext cx="10401300" cy="19050"/>
          </a:xfrm>
          <a:prstGeom xmlns:a="http://schemas.openxmlformats.org/drawingml/2006/main" prst="roundRect">
            <a:avLst>
              <a:gd name="adj" fmla="val 50000"/>
            </a:avLst>
          </a:prstGeom>
          <a:solidFill xmlns:a="http://schemas.openxmlformats.org/drawingml/2006/main">
            <a:srgbClr val="123F56"/>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5AB34DF-2B38-4BD7-83D7-46A64A7F9328}"/>
              </a:ext>
            </a:extLst>
          </p:cNvPr>
          <p:cNvSpPr>
            <a:spLocks xmlns:a="http://schemas.openxmlformats.org/drawingml/2006/main" noGrp="1"/>
          </p:cNvSpPr>
          <p:nvPr/>
        </p:nvSpPr>
        <p:spPr>
          <a:xfrm xmlns:a="http://schemas.openxmlformats.org/drawingml/2006/main">
            <a:off x="895350" y="50673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550" b="1">
                <a:solidFill>
                  <a:srgbClr val="123F56"/>
                </a:solidFill>
                <a:latin typeface="Arial"/>
                <a:ea typeface="Arial"/>
                <a:cs typeface="Arial"/>
              </a:defRPr>
            </a:pPr>
            <a:r>
              <a:rPr sz="2550" b="1">
                <a:solidFill>
                  <a:srgbClr val="123F56"/>
                </a:solidFill>
                <a:latin typeface="Arial"/>
                <a:ea typeface="Arial"/>
                <a:cs typeface="Arial"/>
              </a:rPr>
              <a:t>110 regression tests passed</a:t>
            </a:r>
          </a:p>
        </p:txBody>
      </p:sp>
      <p:sp>
        <p:nvSpPr>
          <p:cNvPr id="32" name="">
            <a:extLst xmlns:a="http://schemas.openxmlformats.org/drawingml/2006/main">
              <a:ext uri="{FF2B5EF4-FFF2-40B4-BE49-F238E27FC236}">
                <a16:creationId xmlns:a16="http://schemas.microsoft.com/office/drawing/2014/main" id="{EF059121-46BA-4ECF-9A23-3E31183F582A}"/>
              </a:ext>
            </a:extLst>
          </p:cNvPr>
          <p:cNvSpPr>
            <a:spLocks xmlns:a="http://schemas.openxmlformats.org/drawingml/2006/main" noGrp="1"/>
          </p:cNvSpPr>
          <p:nvPr/>
        </p:nvSpPr>
        <p:spPr>
          <a:xfrm xmlns:a="http://schemas.openxmlformats.org/drawingml/2006/main">
            <a:off x="6191250" y="5010150"/>
            <a:ext cx="5105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575" b="0">
                <a:solidFill>
                  <a:srgbClr val="657377"/>
                </a:solidFill>
                <a:latin typeface="Arial"/>
                <a:ea typeface="Arial"/>
                <a:cs typeface="Arial"/>
              </a:defRPr>
            </a:pPr>
            <a:r>
              <a:rPr sz="1575" b="0">
                <a:solidFill>
                  <a:srgbClr val="657377"/>
                </a:solidFill>
                <a:latin typeface="Arial"/>
                <a:ea typeface="Arial"/>
                <a:cs typeface="Arial"/>
              </a:rPr>
              <a:t>Synthetic baseline only. These results do not claim support for every institution or PDF layout.</a:t>
            </a:r>
          </a:p>
        </p:txBody>
      </p:sp>
      <p:sp>
        <p:nvSpPr>
          <p:cNvPr id="33" name="">
            <a:extLst xmlns:a="http://schemas.openxmlformats.org/drawingml/2006/main">
              <a:ext uri="{FF2B5EF4-FFF2-40B4-BE49-F238E27FC236}">
                <a16:creationId xmlns:a16="http://schemas.microsoft.com/office/drawing/2014/main" id="{74F77DF8-C978-42B8-B81F-5C7C9FD20B2E}"/>
              </a:ext>
            </a:extLst>
          </p:cNvPr>
          <p:cNvSpPr>
            <a:spLocks xmlns:a="http://schemas.openxmlformats.org/drawingml/2006/main" noGrp="1"/>
          </p:cNvSpPr>
          <p:nvPr/>
        </p:nvSpPr>
        <p:spPr>
          <a:xfrm xmlns:a="http://schemas.openxmlformats.org/drawingml/2006/main">
            <a:off x="590550" y="6515100"/>
            <a:ext cx="1101090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7F1ED27-1F8E-414C-83FF-B58D230C514E}"/>
              </a:ext>
            </a:extLst>
          </p:cNvPr>
          <p:cNvSpPr>
            <a:spLocks xmlns:a="http://schemas.openxmlformats.org/drawingml/2006/main" noGrp="1"/>
          </p:cNvSpPr>
          <p:nvPr/>
        </p:nvSpPr>
        <p:spPr>
          <a:xfrm xmlns:a="http://schemas.openxmlformats.org/drawingml/2006/main">
            <a:off x="590550" y="6581775"/>
            <a:ext cx="571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0">
                <a:solidFill>
                  <a:srgbClr val="657377"/>
                </a:solidFill>
                <a:latin typeface="Arial"/>
                <a:ea typeface="Arial"/>
                <a:cs typeface="Arial"/>
              </a:defRPr>
            </a:pPr>
            <a:r>
              <a:rPr sz="975" b="0">
                <a:solidFill>
                  <a:srgbClr val="657377"/>
                </a:solidFill>
                <a:latin typeface="Arial"/>
                <a:ea typeface="Arial"/>
                <a:cs typeface="Arial"/>
              </a:rPr>
              <a:t>Setu · CMU Agentic AI Capstone</a:t>
            </a:r>
          </a:p>
        </p:txBody>
      </p:sp>
    </p:spTree>
    <p:extLst>
      <p:ext uri="{BB962C8B-B14F-4D97-AF65-F5344CB8AC3E}">
        <p14:creationId xmlns:p14="http://schemas.microsoft.com/office/powerpoint/2010/main" val="147930106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d3e7408745644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F76F01-1FD3-4C16-BD90-0ECFCF653720}"/>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FFFDF8">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59C1BB-8BBB-4AEF-BF41-3C734AA63BBB}"/>
              </a:ext>
            </a:extLst>
          </p:cNvPr>
          <p:cNvSpPr>
            <a:spLocks xmlns:a="http://schemas.openxmlformats.org/drawingml/2006/main" noGrp="1"/>
          </p:cNvSpPr>
          <p:nvPr/>
        </p:nvSpPr>
        <p:spPr>
          <a:xfrm xmlns:a="http://schemas.openxmlformats.org/drawingml/2006/main">
            <a:off x="647700" y="781050"/>
            <a:ext cx="666750" cy="57150"/>
          </a:xfrm>
          <a:prstGeom xmlns:a="http://schemas.openxmlformats.org/drawingml/2006/main" prst="roundRect">
            <a:avLst>
              <a:gd name="adj" fmla="val 50000"/>
            </a:avLst>
          </a:prstGeom>
          <a:solidFill xmlns:a="http://schemas.openxmlformats.org/drawingml/2006/main">
            <a:srgbClr val="C760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0BC875-5549-45D8-9D4A-14B919D0BF8C}"/>
              </a:ext>
            </a:extLst>
          </p:cNvPr>
          <p:cNvSpPr>
            <a:spLocks xmlns:a="http://schemas.openxmlformats.org/drawingml/2006/main" noGrp="1"/>
          </p:cNvSpPr>
          <p:nvPr/>
        </p:nvSpPr>
        <p:spPr>
          <a:xfrm xmlns:a="http://schemas.openxmlformats.org/drawingml/2006/main">
            <a:off x="647700" y="1123950"/>
            <a:ext cx="4810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225" b="1">
                <a:solidFill>
                  <a:srgbClr val="172A33"/>
                </a:solidFill>
                <a:latin typeface="Arial"/>
                <a:ea typeface="Arial"/>
                <a:cs typeface="Arial"/>
              </a:defRPr>
            </a:pPr>
            <a:r>
              <a:rPr sz="3225" b="1">
                <a:solidFill>
                  <a:srgbClr val="172A33"/>
                </a:solidFill>
                <a:latin typeface="Arial"/>
                <a:ea typeface="Arial"/>
                <a:cs typeface="Arial"/>
              </a:rPr>
              <a:t>Reliable agents need controls around the model</a:t>
            </a:r>
          </a:p>
        </p:txBody>
      </p:sp>
      <p:sp>
        <p:nvSpPr>
          <p:cNvPr id="5" name="">
            <a:extLst xmlns:a="http://schemas.openxmlformats.org/drawingml/2006/main">
              <a:ext uri="{FF2B5EF4-FFF2-40B4-BE49-F238E27FC236}">
                <a16:creationId xmlns:a16="http://schemas.microsoft.com/office/drawing/2014/main" id="{FBEFC523-44B2-4A92-B940-43AAD29363BA}"/>
              </a:ext>
            </a:extLst>
          </p:cNvPr>
          <p:cNvSpPr>
            <a:spLocks xmlns:a="http://schemas.openxmlformats.org/drawingml/2006/main" noGrp="1"/>
          </p:cNvSpPr>
          <p:nvPr/>
        </p:nvSpPr>
        <p:spPr>
          <a:xfrm xmlns:a="http://schemas.openxmlformats.org/drawingml/2006/main">
            <a:off x="685800" y="259080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123F56"/>
                </a:solidFill>
                <a:latin typeface="Arial"/>
                <a:ea typeface="Arial"/>
                <a:cs typeface="Arial"/>
              </a:defRPr>
            </a:pPr>
            <a:r>
              <a:rPr sz="1800" b="1">
                <a:solidFill>
                  <a:srgbClr val="123F56"/>
                </a:solidFill>
                <a:latin typeface="Arial"/>
                <a:ea typeface="Arial"/>
                <a:cs typeface="Arial"/>
              </a:rPr>
              <a:t>Probabilistic models interpret and explain</a:t>
            </a:r>
          </a:p>
        </p:txBody>
      </p:sp>
      <p:sp>
        <p:nvSpPr>
          <p:cNvPr id="6" name="">
            <a:extLst xmlns:a="http://schemas.openxmlformats.org/drawingml/2006/main">
              <a:ext uri="{FF2B5EF4-FFF2-40B4-BE49-F238E27FC236}">
                <a16:creationId xmlns:a16="http://schemas.microsoft.com/office/drawing/2014/main" id="{589668D6-9FCB-40B0-AF57-E3918F035583}"/>
              </a:ext>
            </a:extLst>
          </p:cNvPr>
          <p:cNvSpPr>
            <a:spLocks xmlns:a="http://schemas.openxmlformats.org/drawingml/2006/main" noGrp="1"/>
          </p:cNvSpPr>
          <p:nvPr/>
        </p:nvSpPr>
        <p:spPr>
          <a:xfrm xmlns:a="http://schemas.openxmlformats.org/drawingml/2006/main">
            <a:off x="685800" y="322897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257653"/>
                </a:solidFill>
                <a:latin typeface="Arial"/>
                <a:ea typeface="Arial"/>
                <a:cs typeface="Arial"/>
              </a:defRPr>
            </a:pPr>
            <a:r>
              <a:rPr sz="1800" b="1">
                <a:solidFill>
                  <a:srgbClr val="257653"/>
                </a:solidFill>
                <a:latin typeface="Arial"/>
                <a:ea typeface="Arial"/>
                <a:cs typeface="Arial"/>
              </a:rPr>
              <a:t>Deterministic tools own financial truth</a:t>
            </a:r>
          </a:p>
        </p:txBody>
      </p:sp>
      <p:sp>
        <p:nvSpPr>
          <p:cNvPr id="7" name="">
            <a:extLst xmlns:a="http://schemas.openxmlformats.org/drawingml/2006/main">
              <a:ext uri="{FF2B5EF4-FFF2-40B4-BE49-F238E27FC236}">
                <a16:creationId xmlns:a16="http://schemas.microsoft.com/office/drawing/2014/main" id="{363D9F49-9217-41AD-9C80-BBF05DA17491}"/>
              </a:ext>
            </a:extLst>
          </p:cNvPr>
          <p:cNvSpPr>
            <a:spLocks xmlns:a="http://schemas.openxmlformats.org/drawingml/2006/main" noGrp="1"/>
          </p:cNvSpPr>
          <p:nvPr/>
        </p:nvSpPr>
        <p:spPr>
          <a:xfrm xmlns:a="http://schemas.openxmlformats.org/drawingml/2006/main">
            <a:off x="685800" y="386715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C76032"/>
                </a:solidFill>
                <a:latin typeface="Arial"/>
                <a:ea typeface="Arial"/>
                <a:cs typeface="Arial"/>
              </a:defRPr>
            </a:pPr>
            <a:r>
              <a:rPr sz="1800" b="1">
                <a:solidFill>
                  <a:srgbClr val="C76032"/>
                </a:solidFill>
                <a:latin typeface="Arial"/>
                <a:ea typeface="Arial"/>
                <a:cs typeface="Arial"/>
              </a:rPr>
              <a:t>Human review owns unresolved evidence</a:t>
            </a:r>
          </a:p>
        </p:txBody>
      </p:sp>
      <p:sp>
        <p:nvSpPr>
          <p:cNvPr id="8" name="">
            <a:extLst xmlns:a="http://schemas.openxmlformats.org/drawingml/2006/main">
              <a:ext uri="{FF2B5EF4-FFF2-40B4-BE49-F238E27FC236}">
                <a16:creationId xmlns:a16="http://schemas.microsoft.com/office/drawing/2014/main" id="{78290034-D794-4427-983C-E8C915E2DB4A}"/>
              </a:ext>
            </a:extLst>
          </p:cNvPr>
          <p:cNvSpPr>
            <a:spLocks xmlns:a="http://schemas.openxmlformats.org/drawingml/2006/main" noGrp="1"/>
          </p:cNvSpPr>
          <p:nvPr/>
        </p:nvSpPr>
        <p:spPr>
          <a:xfrm xmlns:a="http://schemas.openxmlformats.org/drawingml/2006/main">
            <a:off x="685800" y="4657725"/>
            <a:ext cx="4286250" cy="9525"/>
          </a:xfrm>
          <a:prstGeom xmlns:a="http://schemas.openxmlformats.org/drawingml/2006/main" prst="roundRect">
            <a:avLst>
              <a:gd name="adj" fmla="val 50000"/>
            </a:avLst>
          </a:prstGeom>
          <a:solidFill xmlns:a="http://schemas.openxmlformats.org/drawingml/2006/main">
            <a:srgbClr val="D8D2C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1A1683-8546-4AFB-B211-8ED08447D68A}"/>
              </a:ext>
            </a:extLst>
          </p:cNvPr>
          <p:cNvSpPr>
            <a:spLocks xmlns:a="http://schemas.openxmlformats.org/drawingml/2006/main" noGrp="1"/>
          </p:cNvSpPr>
          <p:nvPr/>
        </p:nvSpPr>
        <p:spPr>
          <a:xfrm xmlns:a="http://schemas.openxmlformats.org/drawingml/2006/main">
            <a:off x="685800" y="49149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123F56"/>
                </a:solidFill>
                <a:latin typeface="Arial"/>
                <a:ea typeface="Arial"/>
                <a:cs typeface="Arial"/>
              </a:defRPr>
            </a:pPr>
            <a:r>
              <a:rPr sz="1800" b="1">
                <a:solidFill>
                  <a:srgbClr val="123F56"/>
                </a:solidFill>
                <a:latin typeface="Arial"/>
                <a:ea typeface="Arial"/>
                <a:cs typeface="Arial"/>
              </a:rPr>
              <a:t>github.com/gadodia/Setu</a:t>
            </a:r>
          </a:p>
        </p:txBody>
      </p:sp>
      <p:sp>
        <p:nvSpPr>
          <p:cNvPr id="10" name="">
            <a:extLst xmlns:a="http://schemas.openxmlformats.org/drawingml/2006/main">
              <a:ext uri="{FF2B5EF4-FFF2-40B4-BE49-F238E27FC236}">
                <a16:creationId xmlns:a16="http://schemas.microsoft.com/office/drawing/2014/main" id="{8831271C-420D-49C2-8D08-088A3EB3F47F}"/>
              </a:ext>
            </a:extLst>
          </p:cNvPr>
          <p:cNvSpPr>
            <a:spLocks xmlns:a="http://schemas.openxmlformats.org/drawingml/2006/main" noGrp="1"/>
          </p:cNvSpPr>
          <p:nvPr/>
        </p:nvSpPr>
        <p:spPr>
          <a:xfrm xmlns:a="http://schemas.openxmlformats.org/drawingml/2006/main">
            <a:off x="685800" y="5391150"/>
            <a:ext cx="4400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350" b="0">
                <a:solidFill>
                  <a:srgbClr val="657377"/>
                </a:solidFill>
                <a:latin typeface="Arial"/>
                <a:ea typeface="Arial"/>
                <a:cs typeface="Arial"/>
              </a:defRPr>
            </a:pPr>
            <a:r>
              <a:rPr sz="1350" b="0">
                <a:solidFill>
                  <a:srgbClr val="657377"/>
                </a:solidFill>
                <a:latin typeface="Arial"/>
                <a:ea typeface="Arial"/>
                <a:cs typeface="Arial"/>
              </a:rPr>
              <a:t>Next: broader anonymized corpus, dated market data, goals and liabilities, cited public retrieval</a:t>
            </a:r>
          </a:p>
        </p:txBody>
      </p:sp>
    </p:spTree>
    <p:extLst>
      <p:ext uri="{BB962C8B-B14F-4D97-AF65-F5344CB8AC3E}">
        <p14:creationId xmlns:p14="http://schemas.microsoft.com/office/powerpoint/2010/main" val="642514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2026-09-06T22:51:03.7140000Z</dcterms:created>
  <dcterms:modified xsi:type="dcterms:W3CDTF">2026-09-06T22:51:03.7150000Z</dcterms:modified>
</coreProperties>
</file>